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Instrument Sans" pitchFamily="2" charset="0"/>
      <p:regular r:id="rId15"/>
      <p:bold r:id="rId16"/>
      <p:italic r:id="rId17"/>
      <p:boldItalic r:id="rId18"/>
    </p:embeddedFont>
    <p:embeddedFont>
      <p:font typeface="Instrument Sans Medium" pitchFamily="2" charset="0"/>
      <p:regular r:id="rId19"/>
      <p:italic r:id="rId20"/>
    </p:embeddedFont>
    <p:embeddedFont>
      <p:font typeface="Instrument Sans SemiBold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80">
          <p15:clr>
            <a:srgbClr val="747775"/>
          </p15:clr>
        </p15:guide>
        <p15:guide id="2" orient="horz" pos="5583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5"/>
  </p:normalViewPr>
  <p:slideViewPr>
    <p:cSldViewPr snapToGrid="0">
      <p:cViewPr varScale="1">
        <p:scale>
          <a:sx n="79" d="100"/>
          <a:sy n="79" d="100"/>
        </p:scale>
        <p:origin x="384" y="216"/>
      </p:cViewPr>
      <p:guideLst>
        <p:guide orient="horz" pos="1080"/>
        <p:guide orient="horz" pos="5583"/>
        <p:guide pos="57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e113c09c5a_4_1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e113c09c5a_4_1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5de886760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f5de886760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5de886760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f5de886760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5de886760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f5de886760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e113c09c5a_4_10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e113c09c5a_4_10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Revise heavily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113c09c5a_4_10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e113c09c5a_4_10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5de88676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f5de88676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0c7546cee_1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f0c7546cee_1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e113c09c5a_4_1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e113c09c5a_4_1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5de886760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f5de886760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5de886760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f5de886760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5ea8adfb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f5ea8adfb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CUSTOM_3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title"/>
          </p:nvPr>
        </p:nvSpPr>
        <p:spPr>
          <a:xfrm>
            <a:off x="914400" y="890050"/>
            <a:ext cx="16459200" cy="51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Page">
  <p:cSld name="TITLE_2_1">
    <p:bg>
      <p:bgPr>
        <a:solidFill>
          <a:schemeClr val="dk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>
            <a:spLocks noGrp="1"/>
          </p:cNvSpPr>
          <p:nvPr>
            <p:ph type="ctrTitle"/>
          </p:nvPr>
        </p:nvSpPr>
        <p:spPr>
          <a:xfrm>
            <a:off x="914400" y="4470475"/>
            <a:ext cx="7496100" cy="1692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 b="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 b="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 b="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 b="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 b="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 b="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 b="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 b="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 b="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ubTitle" idx="1"/>
          </p:nvPr>
        </p:nvSpPr>
        <p:spPr>
          <a:xfrm>
            <a:off x="914400" y="6420725"/>
            <a:ext cx="4348500" cy="303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strument Sans SemiBold"/>
              <a:buNone/>
              <a:defRPr sz="2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strument Sans SemiBold"/>
              <a:buNone/>
              <a:defRPr sz="2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strument Sans SemiBold"/>
              <a:buNone/>
              <a:defRPr sz="2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strument Sans SemiBold"/>
              <a:buNone/>
              <a:defRPr sz="2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strument Sans SemiBold"/>
              <a:buNone/>
              <a:defRPr sz="2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strument Sans SemiBold"/>
              <a:buNone/>
              <a:defRPr sz="2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strument Sans SemiBold"/>
              <a:buNone/>
              <a:defRPr sz="2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strument Sans SemiBold"/>
              <a:buNone/>
              <a:defRPr sz="2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strument Sans SemiBold"/>
              <a:buNone/>
              <a:defRPr sz="2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/>
          </p:nvPr>
        </p:nvSpPr>
        <p:spPr>
          <a:xfrm>
            <a:off x="914400" y="914400"/>
            <a:ext cx="4954500" cy="923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strument Sans SemiBold"/>
              <a:buNone/>
              <a:defRPr sz="3000" b="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strument Sans SemiBold"/>
              <a:buNone/>
              <a:defRPr sz="3000" b="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strument Sans SemiBold"/>
              <a:buNone/>
              <a:defRPr sz="3000" b="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strument Sans SemiBold"/>
              <a:buNone/>
              <a:defRPr sz="3000" b="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strument Sans SemiBold"/>
              <a:buNone/>
              <a:defRPr sz="3000" b="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strument Sans SemiBold"/>
              <a:buNone/>
              <a:defRPr sz="3000" b="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strument Sans SemiBold"/>
              <a:buNone/>
              <a:defRPr sz="3000" b="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strument Sans SemiBold"/>
              <a:buNone/>
              <a:defRPr sz="3000" b="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strument Sans SemiBold"/>
              <a:buNone/>
              <a:defRPr sz="3000" b="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pic>
        <p:nvPicPr>
          <p:cNvPr id="14" name="Google Shape;14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373602" y="9372600"/>
            <a:ext cx="457200" cy="2316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E46962"/>
          </p15:clr>
        </p15:guide>
        <p15:guide id="2" pos="4032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Page">
  <p:cSld name="CUSTOM_2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373600" y="9372600"/>
            <a:ext cx="4572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36875" y="3141575"/>
            <a:ext cx="10338000" cy="923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 SemiBold"/>
              <a:buNone/>
              <a:defRPr sz="2400" b="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 SemiBold"/>
              <a:buNone/>
              <a:defRPr sz="2400" b="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 SemiBold"/>
              <a:buNone/>
              <a:defRPr sz="2400" b="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 SemiBold"/>
              <a:buNone/>
              <a:defRPr sz="2400" b="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 SemiBold"/>
              <a:buNone/>
              <a:defRPr sz="2400" b="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 SemiBold"/>
              <a:buNone/>
              <a:defRPr sz="2400" b="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 SemiBold"/>
              <a:buNone/>
              <a:defRPr sz="2400" b="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 SemiBold"/>
              <a:buNone/>
              <a:defRPr sz="2400" b="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subTitle" idx="1"/>
          </p:nvPr>
        </p:nvSpPr>
        <p:spPr>
          <a:xfrm>
            <a:off x="5058375" y="4060675"/>
            <a:ext cx="10338000" cy="923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/>
          <p:nvPr/>
        </p:nvSpPr>
        <p:spPr>
          <a:xfrm>
            <a:off x="6255650" y="4912650"/>
            <a:ext cx="8620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4_1">
    <p:bg>
      <p:bgPr>
        <a:solidFill>
          <a:schemeClr val="dk1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5036875" y="3141575"/>
            <a:ext cx="10338000" cy="923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 SemiBold"/>
              <a:buNone/>
              <a:defRPr sz="2400" b="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 SemiBold"/>
              <a:buNone/>
              <a:defRPr sz="2400" b="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 SemiBold"/>
              <a:buNone/>
              <a:defRPr sz="2400" b="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 SemiBold"/>
              <a:buNone/>
              <a:defRPr sz="2400" b="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 SemiBold"/>
              <a:buNone/>
              <a:defRPr sz="2400" b="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 SemiBold"/>
              <a:buNone/>
              <a:defRPr sz="2400" b="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 SemiBold"/>
              <a:buNone/>
              <a:defRPr sz="2400" b="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 SemiBold"/>
              <a:buNone/>
              <a:defRPr sz="2400" b="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 SemiBold"/>
              <a:buNone/>
              <a:defRPr sz="2400" b="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5036875" y="3827925"/>
            <a:ext cx="11848500" cy="520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609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"/>
              <a:buChar char="●"/>
              <a:defRPr sz="6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lvl="1" indent="-609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"/>
              <a:buChar char="○"/>
              <a:defRPr sz="6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lvl="2" indent="-609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"/>
              <a:buChar char="■"/>
              <a:defRPr sz="6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lvl="3" indent="-609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"/>
              <a:buChar char="●"/>
              <a:defRPr sz="6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lvl="4" indent="-609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"/>
              <a:buChar char="○"/>
              <a:defRPr sz="6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lvl="5" indent="-609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"/>
              <a:buChar char="■"/>
              <a:defRPr sz="6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lvl="6" indent="-609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"/>
              <a:buChar char="●"/>
              <a:defRPr sz="6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lvl="7" indent="-609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"/>
              <a:buChar char="○"/>
              <a:defRPr sz="6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lvl="8" indent="-609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"/>
              <a:buChar char="■"/>
              <a:defRPr sz="6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pic>
        <p:nvPicPr>
          <p:cNvPr id="23" name="Google Shape;2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373602" y="9372600"/>
            <a:ext cx="457200" cy="2316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173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and Right Image">
  <p:cSld name="CUSTOM_2_2_2_1_3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914400" y="914400"/>
            <a:ext cx="8046900" cy="499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body" idx="1"/>
          </p:nvPr>
        </p:nvSpPr>
        <p:spPr>
          <a:xfrm>
            <a:off x="914400" y="2700025"/>
            <a:ext cx="8067300" cy="6044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●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lvl="1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○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lvl="2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■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lvl="3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●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lvl="4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○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lvl="5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■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lvl="6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●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lvl="7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○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lvl="8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■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27" name="Google Shape;27;p6"/>
          <p:cNvSpPr>
            <a:spLocks noGrp="1"/>
          </p:cNvSpPr>
          <p:nvPr>
            <p:ph type="pic" idx="2"/>
          </p:nvPr>
        </p:nvSpPr>
        <p:spPr>
          <a:xfrm>
            <a:off x="9319500" y="0"/>
            <a:ext cx="8968500" cy="10287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649">
          <p15:clr>
            <a:srgbClr val="E46962"/>
          </p15:clr>
        </p15:guide>
        <p15:guide id="2" pos="5871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oter and Right Image">
  <p:cSld name="CUSTOM_2_2_2_1_3_1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914400" y="914400"/>
            <a:ext cx="8046900" cy="499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904200" y="9040725"/>
            <a:ext cx="8067300" cy="6044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55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strument Sans"/>
              <a:buChar char="●"/>
              <a:defRPr sz="2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lvl="1" indent="-355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strument Sans"/>
              <a:buChar char="○"/>
              <a:defRPr sz="2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lvl="2" indent="-355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strument Sans"/>
              <a:buChar char="■"/>
              <a:defRPr sz="2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lvl="3" indent="-355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strument Sans"/>
              <a:buChar char="●"/>
              <a:defRPr sz="2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lvl="4" indent="-355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strument Sans"/>
              <a:buChar char="○"/>
              <a:defRPr sz="2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lvl="5" indent="-355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strument Sans"/>
              <a:buChar char="■"/>
              <a:defRPr sz="2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lvl="6" indent="-355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strument Sans"/>
              <a:buChar char="●"/>
              <a:defRPr sz="2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lvl="7" indent="-355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strument Sans"/>
              <a:buChar char="○"/>
              <a:defRPr sz="2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lvl="8" indent="-355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strument Sans"/>
              <a:buChar char="■"/>
              <a:defRPr sz="2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31" name="Google Shape;31;p7"/>
          <p:cNvSpPr>
            <a:spLocks noGrp="1"/>
          </p:cNvSpPr>
          <p:nvPr>
            <p:ph type="pic" idx="2"/>
          </p:nvPr>
        </p:nvSpPr>
        <p:spPr>
          <a:xfrm>
            <a:off x="9319500" y="0"/>
            <a:ext cx="8968500" cy="10287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649">
          <p15:clr>
            <a:srgbClr val="E46962"/>
          </p15:clr>
        </p15:guide>
        <p15:guide id="2" pos="587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 and Right Image">
  <p:cSld name="CUSTOM_2_2_2_1_3_1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914400" y="914400"/>
            <a:ext cx="8046900" cy="499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body" idx="1"/>
          </p:nvPr>
        </p:nvSpPr>
        <p:spPr>
          <a:xfrm>
            <a:off x="904200" y="9040725"/>
            <a:ext cx="8067300" cy="6044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55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strument Sans"/>
              <a:buChar char="●"/>
              <a:defRPr sz="2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lvl="1" indent="-355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strument Sans"/>
              <a:buChar char="○"/>
              <a:defRPr sz="2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lvl="2" indent="-355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strument Sans"/>
              <a:buChar char="■"/>
              <a:defRPr sz="2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lvl="3" indent="-355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strument Sans"/>
              <a:buChar char="●"/>
              <a:defRPr sz="2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lvl="4" indent="-355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strument Sans"/>
              <a:buChar char="○"/>
              <a:defRPr sz="2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lvl="5" indent="-355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strument Sans"/>
              <a:buChar char="■"/>
              <a:defRPr sz="2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lvl="6" indent="-355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strument Sans"/>
              <a:buChar char="●"/>
              <a:defRPr sz="2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lvl="7" indent="-355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strument Sans"/>
              <a:buChar char="○"/>
              <a:defRPr sz="2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lvl="8" indent="-355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strument Sans"/>
              <a:buChar char="■"/>
              <a:defRPr sz="2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35" name="Google Shape;35;p8"/>
          <p:cNvSpPr>
            <a:spLocks noGrp="1"/>
          </p:cNvSpPr>
          <p:nvPr>
            <p:ph type="pic" idx="2"/>
          </p:nvPr>
        </p:nvSpPr>
        <p:spPr>
          <a:xfrm>
            <a:off x="9319500" y="0"/>
            <a:ext cx="8968500" cy="102870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>
            <a:spLocks noGrp="1"/>
          </p:cNvSpPr>
          <p:nvPr>
            <p:ph type="pic" idx="3"/>
          </p:nvPr>
        </p:nvSpPr>
        <p:spPr>
          <a:xfrm>
            <a:off x="914400" y="2328600"/>
            <a:ext cx="7511400" cy="5797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649">
          <p15:clr>
            <a:srgbClr val="E46962"/>
          </p15:clr>
        </p15:guide>
        <p15:guide id="2" pos="5871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P 3 Columns">
  <p:cSld name="CUSTOM_2_2_2_1_1_1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914400" y="914400"/>
            <a:ext cx="8046900" cy="499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ubTitle" idx="1"/>
          </p:nvPr>
        </p:nvSpPr>
        <p:spPr>
          <a:xfrm>
            <a:off x="932100" y="2625675"/>
            <a:ext cx="5229900" cy="648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strument Sans"/>
              <a:buNone/>
              <a:defRPr sz="2800" b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strument Sans"/>
              <a:buNone/>
              <a:defRPr sz="2600" b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strument Sans"/>
              <a:buNone/>
              <a:defRPr sz="2600" b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strument Sans"/>
              <a:buNone/>
              <a:defRPr sz="2600" b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strument Sans"/>
              <a:buNone/>
              <a:defRPr sz="2600" b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strument Sans"/>
              <a:buNone/>
              <a:defRPr sz="2600" b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strument Sans"/>
              <a:buNone/>
              <a:defRPr sz="2600" b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strument Sans"/>
              <a:buNone/>
              <a:defRPr sz="2600" b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strument Sans"/>
              <a:buNone/>
              <a:defRPr sz="2600" b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2"/>
          </p:nvPr>
        </p:nvSpPr>
        <p:spPr>
          <a:xfrm>
            <a:off x="914400" y="3273975"/>
            <a:ext cx="5247600" cy="6044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●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lvl="1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○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lvl="2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■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lvl="3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●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lvl="4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○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lvl="5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■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lvl="6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●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lvl="7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○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lvl="8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■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ubTitle" idx="3"/>
          </p:nvPr>
        </p:nvSpPr>
        <p:spPr>
          <a:xfrm>
            <a:off x="6537900" y="2625675"/>
            <a:ext cx="5229900" cy="648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strument Sans"/>
              <a:buNone/>
              <a:defRPr sz="2800" b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strument Sans"/>
              <a:buNone/>
              <a:defRPr sz="2600" b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strument Sans"/>
              <a:buNone/>
              <a:defRPr sz="2600" b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strument Sans"/>
              <a:buNone/>
              <a:defRPr sz="2600" b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strument Sans"/>
              <a:buNone/>
              <a:defRPr sz="2600" b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strument Sans"/>
              <a:buNone/>
              <a:defRPr sz="2600" b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strument Sans"/>
              <a:buNone/>
              <a:defRPr sz="2600" b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strument Sans"/>
              <a:buNone/>
              <a:defRPr sz="2600" b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strument Sans"/>
              <a:buNone/>
              <a:defRPr sz="2600" b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4"/>
          </p:nvPr>
        </p:nvSpPr>
        <p:spPr>
          <a:xfrm>
            <a:off x="6520200" y="3273975"/>
            <a:ext cx="5247600" cy="6044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●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lvl="1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○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lvl="2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■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lvl="3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●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lvl="4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○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lvl="5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■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lvl="6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●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lvl="7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○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lvl="8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■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5"/>
          </p:nvPr>
        </p:nvSpPr>
        <p:spPr>
          <a:xfrm>
            <a:off x="12143700" y="2625675"/>
            <a:ext cx="5229900" cy="648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strument Sans"/>
              <a:buNone/>
              <a:defRPr sz="2800" b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strument Sans"/>
              <a:buNone/>
              <a:defRPr sz="2600" b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strument Sans"/>
              <a:buNone/>
              <a:defRPr sz="2600" b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strument Sans"/>
              <a:buNone/>
              <a:defRPr sz="2600" b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strument Sans"/>
              <a:buNone/>
              <a:defRPr sz="2600" b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strument Sans"/>
              <a:buNone/>
              <a:defRPr sz="2600" b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strument Sans"/>
              <a:buNone/>
              <a:defRPr sz="2600" b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strument Sans"/>
              <a:buNone/>
              <a:defRPr sz="2600" b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strument Sans"/>
              <a:buNone/>
              <a:defRPr sz="2600" b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6"/>
          </p:nvPr>
        </p:nvSpPr>
        <p:spPr>
          <a:xfrm>
            <a:off x="12126000" y="3273975"/>
            <a:ext cx="5247600" cy="6044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●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lvl="1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○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lvl="2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■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lvl="3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●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lvl="4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○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lvl="5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■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lvl="6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●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lvl="7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○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lvl="8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■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pic>
        <p:nvPicPr>
          <p:cNvPr id="45" name="Google Shape;4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373600" y="9372600"/>
            <a:ext cx="4572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413">
          <p15:clr>
            <a:srgbClr val="E46962"/>
          </p15:clr>
        </p15:guide>
        <p15:guide id="2" pos="7638">
          <p15:clr>
            <a:srgbClr val="E46962"/>
          </p15:clr>
        </p15:guide>
        <p15:guide id="3" pos="4107">
          <p15:clr>
            <a:srgbClr val="E46962"/>
          </p15:clr>
        </p15:guide>
        <p15:guide id="4" pos="3882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P 3 Images">
  <p:cSld name="CUSTOM_2_2_2_1_1_1_1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>
            <a:spLocks noGrp="1"/>
          </p:cNvSpPr>
          <p:nvPr>
            <p:ph type="title"/>
          </p:nvPr>
        </p:nvSpPr>
        <p:spPr>
          <a:xfrm>
            <a:off x="914400" y="914400"/>
            <a:ext cx="8046900" cy="499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body" idx="1"/>
          </p:nvPr>
        </p:nvSpPr>
        <p:spPr>
          <a:xfrm>
            <a:off x="6520200" y="9065175"/>
            <a:ext cx="5247600" cy="6044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●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lvl="1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○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lvl="2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■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lvl="3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●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lvl="4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○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lvl="5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■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lvl="6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●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lvl="7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○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lvl="8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■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body" idx="2"/>
          </p:nvPr>
        </p:nvSpPr>
        <p:spPr>
          <a:xfrm>
            <a:off x="12126000" y="9065175"/>
            <a:ext cx="5247600" cy="6044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●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lvl="1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○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lvl="2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■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lvl="3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●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lvl="4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○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lvl="5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■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lvl="6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●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lvl="7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○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lvl="8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■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body" idx="3"/>
          </p:nvPr>
        </p:nvSpPr>
        <p:spPr>
          <a:xfrm>
            <a:off x="904200" y="9040725"/>
            <a:ext cx="5247600" cy="6044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●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lvl="1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○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lvl="2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■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lvl="3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●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lvl="4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○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lvl="5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■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lvl="6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●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lvl="7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○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lvl="8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■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1" name="Google Shape;51;p10"/>
          <p:cNvSpPr>
            <a:spLocks noGrp="1"/>
          </p:cNvSpPr>
          <p:nvPr>
            <p:ph type="pic" idx="4"/>
          </p:nvPr>
        </p:nvSpPr>
        <p:spPr>
          <a:xfrm>
            <a:off x="904200" y="2625725"/>
            <a:ext cx="5229900" cy="60441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10"/>
          <p:cNvSpPr>
            <a:spLocks noGrp="1"/>
          </p:cNvSpPr>
          <p:nvPr>
            <p:ph type="pic" idx="5"/>
          </p:nvPr>
        </p:nvSpPr>
        <p:spPr>
          <a:xfrm>
            <a:off x="12126000" y="2625800"/>
            <a:ext cx="5229900" cy="6044100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10"/>
          <p:cNvSpPr>
            <a:spLocks noGrp="1"/>
          </p:cNvSpPr>
          <p:nvPr>
            <p:ph type="pic" idx="6"/>
          </p:nvPr>
        </p:nvSpPr>
        <p:spPr>
          <a:xfrm>
            <a:off x="6515100" y="2625725"/>
            <a:ext cx="5229900" cy="6044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413">
          <p15:clr>
            <a:srgbClr val="E46962"/>
          </p15:clr>
        </p15:guide>
        <p15:guide id="2" pos="7638">
          <p15:clr>
            <a:srgbClr val="E46962"/>
          </p15:clr>
        </p15:guide>
        <p15:guide id="3" pos="4107">
          <p15:clr>
            <a:srgbClr val="E46962"/>
          </p15:clr>
        </p15:guide>
        <p15:guide id="4" pos="3882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P ">
  <p:cSld name="CUSTOM_2_2_2_1_3_2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/>
          </p:nvPr>
        </p:nvSpPr>
        <p:spPr>
          <a:xfrm>
            <a:off x="914400" y="914400"/>
            <a:ext cx="8046900" cy="499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1"/>
          </p:nvPr>
        </p:nvSpPr>
        <p:spPr>
          <a:xfrm>
            <a:off x="914400" y="2700025"/>
            <a:ext cx="8067300" cy="6044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●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lvl="1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○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lvl="2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■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lvl="3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●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lvl="4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○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lvl="5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■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lvl="6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●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lvl="7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○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lvl="8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■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body" idx="2"/>
          </p:nvPr>
        </p:nvSpPr>
        <p:spPr>
          <a:xfrm>
            <a:off x="9296525" y="2700025"/>
            <a:ext cx="8067300" cy="6044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●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lvl="1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○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lvl="2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■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lvl="3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●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lvl="4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○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lvl="5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■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lvl="6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●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lvl="7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○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lvl="8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■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3"/>
          </p:nvPr>
        </p:nvSpPr>
        <p:spPr>
          <a:xfrm>
            <a:off x="904200" y="9040725"/>
            <a:ext cx="16459500" cy="6044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Char char="●"/>
              <a:defRPr sz="14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Char char="○"/>
              <a:defRPr sz="14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Char char="■"/>
              <a:defRPr sz="14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Char char="●"/>
              <a:defRPr sz="14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Char char="○"/>
              <a:defRPr sz="14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Char char="■"/>
              <a:defRPr sz="14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Char char="●"/>
              <a:defRPr sz="14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Char char="○"/>
              <a:defRPr sz="14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Char char="■"/>
              <a:defRPr sz="14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pic>
        <p:nvPicPr>
          <p:cNvPr id="59" name="Google Shape;5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373600" y="9372600"/>
            <a:ext cx="4572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649">
          <p15:clr>
            <a:srgbClr val="E46962"/>
          </p15:clr>
        </p15:guide>
        <p15:guide id="2" pos="5871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de by Side Image">
  <p:cSld name="CUSTOM_2_2_2_1_4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>
            <a:spLocks noGrp="1"/>
          </p:cNvSpPr>
          <p:nvPr>
            <p:ph type="pic" idx="2"/>
          </p:nvPr>
        </p:nvSpPr>
        <p:spPr>
          <a:xfrm>
            <a:off x="9319500" y="0"/>
            <a:ext cx="8968500" cy="10287000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12"/>
          <p:cNvSpPr>
            <a:spLocks noGrp="1"/>
          </p:cNvSpPr>
          <p:nvPr>
            <p:ph type="pic" idx="3"/>
          </p:nvPr>
        </p:nvSpPr>
        <p:spPr>
          <a:xfrm>
            <a:off x="0" y="0"/>
            <a:ext cx="8968500" cy="10287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649">
          <p15:clr>
            <a:srgbClr val="E46962"/>
          </p15:clr>
        </p15:guide>
        <p15:guide id="2" pos="5871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de by Side Image Right">
  <p:cSld name="CUSTOM_2_2_2_1_4_1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>
            <a:spLocks noGrp="1"/>
          </p:cNvSpPr>
          <p:nvPr>
            <p:ph type="pic" idx="2"/>
          </p:nvPr>
        </p:nvSpPr>
        <p:spPr>
          <a:xfrm>
            <a:off x="0" y="0"/>
            <a:ext cx="8968500" cy="102870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3"/>
          <p:cNvSpPr>
            <a:spLocks noGrp="1"/>
          </p:cNvSpPr>
          <p:nvPr>
            <p:ph type="pic" idx="3"/>
          </p:nvPr>
        </p:nvSpPr>
        <p:spPr>
          <a:xfrm>
            <a:off x="9862200" y="2244600"/>
            <a:ext cx="7511400" cy="5797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649">
          <p15:clr>
            <a:srgbClr val="E46962"/>
          </p15:clr>
        </p15:guide>
        <p15:guide id="2" pos="5871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and Bullet Points">
  <p:cSld name="CUSTOM_2_2_2_1_3_2_1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>
            <a:spLocks noGrp="1"/>
          </p:cNvSpPr>
          <p:nvPr>
            <p:ph type="title"/>
          </p:nvPr>
        </p:nvSpPr>
        <p:spPr>
          <a:xfrm>
            <a:off x="914400" y="914400"/>
            <a:ext cx="8046900" cy="499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1"/>
          </p:nvPr>
        </p:nvSpPr>
        <p:spPr>
          <a:xfrm>
            <a:off x="914400" y="2700025"/>
            <a:ext cx="7490700" cy="6044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●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lvl="1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○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lvl="2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■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lvl="3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●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lvl="4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○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lvl="5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■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lvl="6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●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lvl="7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○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lvl="8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■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subTitle" idx="2"/>
          </p:nvPr>
        </p:nvSpPr>
        <p:spPr>
          <a:xfrm>
            <a:off x="9337200" y="2700025"/>
            <a:ext cx="5778000" cy="648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strument Sans"/>
              <a:buNone/>
              <a:defRPr sz="2800" b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strument Sans"/>
              <a:buNone/>
              <a:defRPr sz="2600" b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strument Sans"/>
              <a:buNone/>
              <a:defRPr sz="2600" b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strument Sans"/>
              <a:buNone/>
              <a:defRPr sz="2600" b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strument Sans"/>
              <a:buNone/>
              <a:defRPr sz="2600" b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strument Sans"/>
              <a:buNone/>
              <a:defRPr sz="2600" b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strument Sans"/>
              <a:buNone/>
              <a:defRPr sz="2600" b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strument Sans"/>
              <a:buNone/>
              <a:defRPr sz="2600" b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strument Sans"/>
              <a:buNone/>
              <a:defRPr sz="2600" b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3"/>
          </p:nvPr>
        </p:nvSpPr>
        <p:spPr>
          <a:xfrm>
            <a:off x="9319500" y="3348325"/>
            <a:ext cx="5247600" cy="16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●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lvl="1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○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lvl="2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■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lvl="3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●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lvl="4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○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lvl="5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■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lvl="6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●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lvl="7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○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lvl="8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■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ubTitle" idx="4"/>
          </p:nvPr>
        </p:nvSpPr>
        <p:spPr>
          <a:xfrm>
            <a:off x="9346050" y="4958725"/>
            <a:ext cx="5778000" cy="648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strument Sans"/>
              <a:buNone/>
              <a:defRPr sz="2800" b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strument Sans"/>
              <a:buNone/>
              <a:defRPr sz="2600" b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strument Sans"/>
              <a:buNone/>
              <a:defRPr sz="2600" b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strument Sans"/>
              <a:buNone/>
              <a:defRPr sz="2600" b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strument Sans"/>
              <a:buNone/>
              <a:defRPr sz="2600" b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strument Sans"/>
              <a:buNone/>
              <a:defRPr sz="2600" b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strument Sans"/>
              <a:buNone/>
              <a:defRPr sz="2600" b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strument Sans"/>
              <a:buNone/>
              <a:defRPr sz="2600" b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strument Sans"/>
              <a:buNone/>
              <a:defRPr sz="2600" b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5"/>
          </p:nvPr>
        </p:nvSpPr>
        <p:spPr>
          <a:xfrm>
            <a:off x="9328350" y="5607025"/>
            <a:ext cx="5247600" cy="16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●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lvl="1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○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lvl="2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■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lvl="3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●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lvl="4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○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lvl="5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■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lvl="6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●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lvl="7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○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lvl="8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■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ubTitle" idx="6"/>
          </p:nvPr>
        </p:nvSpPr>
        <p:spPr>
          <a:xfrm>
            <a:off x="9346050" y="7217425"/>
            <a:ext cx="5778000" cy="648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strument Sans"/>
              <a:buNone/>
              <a:defRPr sz="2800" b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strument Sans"/>
              <a:buNone/>
              <a:defRPr sz="2600" b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strument Sans"/>
              <a:buNone/>
              <a:defRPr sz="2600" b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strument Sans"/>
              <a:buNone/>
              <a:defRPr sz="2600" b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strument Sans"/>
              <a:buNone/>
              <a:defRPr sz="2600" b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strument Sans"/>
              <a:buNone/>
              <a:defRPr sz="2600" b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strument Sans"/>
              <a:buNone/>
              <a:defRPr sz="2600" b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strument Sans"/>
              <a:buNone/>
              <a:defRPr sz="2600" b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strument Sans"/>
              <a:buNone/>
              <a:defRPr sz="2600" b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4" name="Google Shape;74;p14"/>
          <p:cNvSpPr txBox="1">
            <a:spLocks noGrp="1"/>
          </p:cNvSpPr>
          <p:nvPr>
            <p:ph type="body" idx="7"/>
          </p:nvPr>
        </p:nvSpPr>
        <p:spPr>
          <a:xfrm>
            <a:off x="9328350" y="7865725"/>
            <a:ext cx="5247600" cy="16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●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lvl="1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○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lvl="2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■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lvl="3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●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lvl="4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○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lvl="5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■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lvl="6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●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lvl="7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○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lvl="8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■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pic>
        <p:nvPicPr>
          <p:cNvPr id="75" name="Google Shape;7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373600" y="9372600"/>
            <a:ext cx="4572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649">
          <p15:clr>
            <a:srgbClr val="E46962"/>
          </p15:clr>
        </p15:guide>
        <p15:guide id="2" pos="5871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P Text">
  <p:cSld name="CUSTOM_2_2_2_1_2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>
            <a:spLocks noGrp="1"/>
          </p:cNvSpPr>
          <p:nvPr>
            <p:ph type="title"/>
          </p:nvPr>
        </p:nvSpPr>
        <p:spPr>
          <a:xfrm>
            <a:off x="914400" y="914400"/>
            <a:ext cx="8046900" cy="499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body" idx="1"/>
          </p:nvPr>
        </p:nvSpPr>
        <p:spPr>
          <a:xfrm>
            <a:off x="914400" y="2700025"/>
            <a:ext cx="7490700" cy="6044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●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lvl="1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○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lvl="2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■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lvl="3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●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lvl="4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○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lvl="5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■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lvl="6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●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lvl="7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○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lvl="8" indent="-393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ans"/>
              <a:buChar char="■"/>
              <a:defRPr sz="26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373600" y="9372600"/>
            <a:ext cx="4572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649">
          <p15:clr>
            <a:srgbClr val="E46962"/>
          </p15:clr>
        </p15:guide>
        <p15:guide id="2" pos="6234">
          <p15:clr>
            <a:srgbClr val="E46962"/>
          </p15:clr>
        </p15:guide>
        <p15:guide id="3" pos="10376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Image">
  <p:cSld name="CUSTOM_2_2_2_1_4_2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>
            <a:spLocks noGrp="1"/>
          </p:cNvSpPr>
          <p:nvPr>
            <p:ph type="pic" idx="2"/>
          </p:nvPr>
        </p:nvSpPr>
        <p:spPr>
          <a:xfrm>
            <a:off x="-125" y="0"/>
            <a:ext cx="18288000" cy="10287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649">
          <p15:clr>
            <a:srgbClr val="E46962"/>
          </p15:clr>
        </p15:guide>
        <p15:guide id="2" pos="5871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act Page">
  <p:cSld name="TITLE_4_2_1">
    <p:bg>
      <p:bgPr>
        <a:solidFill>
          <a:schemeClr val="dk1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>
            <a:spLocks noGrp="1"/>
          </p:cNvSpPr>
          <p:nvPr>
            <p:ph type="title"/>
          </p:nvPr>
        </p:nvSpPr>
        <p:spPr>
          <a:xfrm>
            <a:off x="914400" y="914400"/>
            <a:ext cx="5326200" cy="923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strument Sans SemiBold"/>
              <a:buNone/>
              <a:defRPr sz="3000" b="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strument Sans SemiBold"/>
              <a:buNone/>
              <a:defRPr sz="3000" b="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strument Sans SemiBold"/>
              <a:buNone/>
              <a:defRPr sz="3000" b="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strument Sans SemiBold"/>
              <a:buNone/>
              <a:defRPr sz="3000" b="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strument Sans SemiBold"/>
              <a:buNone/>
              <a:defRPr sz="3000" b="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strument Sans SemiBold"/>
              <a:buNone/>
              <a:defRPr sz="3000" b="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strument Sans SemiBold"/>
              <a:buNone/>
              <a:defRPr sz="3000" b="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strument Sans SemiBold"/>
              <a:buNone/>
              <a:defRPr sz="3000" b="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strument Sans SemiBold"/>
              <a:buNone/>
              <a:defRPr sz="3000" b="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body" idx="1"/>
          </p:nvPr>
        </p:nvSpPr>
        <p:spPr>
          <a:xfrm>
            <a:off x="914400" y="7331250"/>
            <a:ext cx="3818100" cy="3787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"/>
              <a:buChar char="●"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lvl="1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"/>
              <a:buChar char="○"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lvl="2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"/>
              <a:buChar char="■"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lvl="3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"/>
              <a:buChar char="●"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lvl="4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"/>
              <a:buChar char="○"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lvl="5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"/>
              <a:buChar char="■"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lvl="6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"/>
              <a:buChar char="●"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lvl="7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"/>
              <a:buChar char="○"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lvl="8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"/>
              <a:buChar char="■"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373602" y="9372600"/>
            <a:ext cx="457200" cy="231677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 txBox="1">
            <a:spLocks noGrp="1"/>
          </p:cNvSpPr>
          <p:nvPr>
            <p:ph type="body" idx="2"/>
          </p:nvPr>
        </p:nvSpPr>
        <p:spPr>
          <a:xfrm>
            <a:off x="5029200" y="7331250"/>
            <a:ext cx="3818100" cy="3787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"/>
              <a:buChar char="●"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lvl="1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"/>
              <a:buChar char="○"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lvl="2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"/>
              <a:buChar char="■"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lvl="3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"/>
              <a:buChar char="●"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lvl="4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"/>
              <a:buChar char="○"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lvl="5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"/>
              <a:buChar char="■"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lvl="6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"/>
              <a:buChar char="●"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lvl="7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"/>
              <a:buChar char="○"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lvl="8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"/>
              <a:buChar char="■"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body" idx="3"/>
          </p:nvPr>
        </p:nvSpPr>
        <p:spPr>
          <a:xfrm>
            <a:off x="9144000" y="7331250"/>
            <a:ext cx="3818100" cy="3787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"/>
              <a:buChar char="●"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lvl="1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"/>
              <a:buChar char="○"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lvl="2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"/>
              <a:buChar char="■"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lvl="3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"/>
              <a:buChar char="●"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lvl="4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"/>
              <a:buChar char="○"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lvl="5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"/>
              <a:buChar char="■"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lvl="6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"/>
              <a:buChar char="●"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lvl="7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"/>
              <a:buChar char="○"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lvl="8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"/>
              <a:buChar char="■"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8" name="Google Shape;88;p17"/>
          <p:cNvSpPr txBox="1">
            <a:spLocks noGrp="1"/>
          </p:cNvSpPr>
          <p:nvPr>
            <p:ph type="body" idx="4"/>
          </p:nvPr>
        </p:nvSpPr>
        <p:spPr>
          <a:xfrm>
            <a:off x="13258800" y="7331250"/>
            <a:ext cx="3818100" cy="3787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"/>
              <a:buChar char="●"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lvl="1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"/>
              <a:buChar char="○"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lvl="2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"/>
              <a:buChar char="■"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lvl="3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"/>
              <a:buChar char="●"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lvl="4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"/>
              <a:buChar char="○"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lvl="5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"/>
              <a:buChar char="■"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lvl="6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"/>
              <a:buChar char="●"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lvl="7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"/>
              <a:buChar char="○"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lvl="8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"/>
              <a:buChar char="■"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168">
          <p15:clr>
            <a:srgbClr val="E46962"/>
          </p15:clr>
        </p15:guide>
        <p15:guide id="2" pos="5760">
          <p15:clr>
            <a:srgbClr val="E46962"/>
          </p15:clr>
        </p15:guide>
        <p15:guide id="3" pos="8352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14400" y="890050"/>
            <a:ext cx="164592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strument Sans"/>
              <a:buNone/>
              <a:defRPr sz="3000" b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strument Sans"/>
              <a:buNone/>
              <a:defRPr sz="3000" b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strument Sans"/>
              <a:buNone/>
              <a:defRPr sz="3000" b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strument Sans"/>
              <a:buNone/>
              <a:defRPr sz="3000" b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strument Sans"/>
              <a:buNone/>
              <a:defRPr sz="3000" b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strument Sans"/>
              <a:buNone/>
              <a:defRPr sz="3000" b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strument Sans"/>
              <a:buNone/>
              <a:defRPr sz="3000" b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strument Sans"/>
              <a:buNone/>
              <a:defRPr sz="3000" b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strument Sans"/>
              <a:buNone/>
              <a:defRPr sz="3000" b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14400" y="2304950"/>
            <a:ext cx="16459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strument Sans Medium"/>
              <a:buChar char="●"/>
              <a:defRPr sz="1800">
                <a:solidFill>
                  <a:schemeClr val="dk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marL="914400" lvl="1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strument Sans Medium"/>
              <a:buChar char="○"/>
              <a:defRPr sz="1800">
                <a:solidFill>
                  <a:schemeClr val="dk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marL="1371600" lvl="2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strument Sans Medium"/>
              <a:buChar char="■"/>
              <a:defRPr sz="1800">
                <a:solidFill>
                  <a:schemeClr val="dk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marL="1828800" lvl="3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strument Sans Medium"/>
              <a:buChar char="●"/>
              <a:defRPr sz="1800">
                <a:solidFill>
                  <a:schemeClr val="dk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marL="2286000" lvl="4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strument Sans Medium"/>
              <a:buChar char="○"/>
              <a:defRPr sz="1800">
                <a:solidFill>
                  <a:schemeClr val="dk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marL="2743200" lvl="5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strument Sans Medium"/>
              <a:buChar char="■"/>
              <a:defRPr sz="1800">
                <a:solidFill>
                  <a:schemeClr val="dk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marL="3200400" lvl="6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strument Sans Medium"/>
              <a:buChar char="●"/>
              <a:defRPr sz="1800">
                <a:solidFill>
                  <a:schemeClr val="dk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marL="3657600" lvl="7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strument Sans Medium"/>
              <a:buChar char="○"/>
              <a:defRPr sz="1800">
                <a:solidFill>
                  <a:schemeClr val="dk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marL="4114800" lvl="8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strument Sans Medium"/>
              <a:buChar char="■"/>
              <a:defRPr sz="1800">
                <a:solidFill>
                  <a:schemeClr val="dk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76">
          <p15:clr>
            <a:srgbClr val="E46962"/>
          </p15:clr>
        </p15:guide>
        <p15:guide id="2" orient="horz" pos="576">
          <p15:clr>
            <a:srgbClr val="E46962"/>
          </p15:clr>
        </p15:guide>
        <p15:guide id="3" orient="horz" pos="5904">
          <p15:clr>
            <a:srgbClr val="E46962"/>
          </p15:clr>
        </p15:guide>
        <p15:guide id="4" pos="10944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080/14649360802292462" TargetMode="External"/><Relationship Id="rId13" Type="http://schemas.openxmlformats.org/officeDocument/2006/relationships/hyperlink" Target="https://doi.org/10.1016/j.destud.2020.03.002" TargetMode="External"/><Relationship Id="rId3" Type="http://schemas.openxmlformats.org/officeDocument/2006/relationships/hyperlink" Target="https://doi.org/10.29333/ajqr/13230" TargetMode="External"/><Relationship Id="rId7" Type="http://schemas.openxmlformats.org/officeDocument/2006/relationships/hyperlink" Target="https://doi.org/10.1111/1467-8306.00309" TargetMode="External"/><Relationship Id="rId12" Type="http://schemas.openxmlformats.org/officeDocument/2006/relationships/hyperlink" Target="https://doi.org/10.1177/03091325231194656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i.org/10.1002/ajcp.12752" TargetMode="External"/><Relationship Id="rId11" Type="http://schemas.openxmlformats.org/officeDocument/2006/relationships/hyperlink" Target="https://doi.org/10.1177/16094069231205789" TargetMode="External"/><Relationship Id="rId5" Type="http://schemas.openxmlformats.org/officeDocument/2006/relationships/hyperlink" Target="https://doi.org/10.1007/978-981-10-5251-4_103" TargetMode="External"/><Relationship Id="rId10" Type="http://schemas.openxmlformats.org/officeDocument/2006/relationships/hyperlink" Target="https://doi.org/10.1080/0966369022000003879" TargetMode="External"/><Relationship Id="rId4" Type="http://schemas.openxmlformats.org/officeDocument/2006/relationships/hyperlink" Target="https://doi.org/10.1177/0885412220928575" TargetMode="External"/><Relationship Id="rId9" Type="http://schemas.openxmlformats.org/officeDocument/2006/relationships/hyperlink" Target="https://www.jstor.org/stable/10.5749/j.ctttv71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ctrTitle"/>
          </p:nvPr>
        </p:nvSpPr>
        <p:spPr>
          <a:xfrm>
            <a:off x="914400" y="3937075"/>
            <a:ext cx="10077600" cy="83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Black Women’s Cambridge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title" idx="2"/>
          </p:nvPr>
        </p:nvSpPr>
        <p:spPr>
          <a:xfrm>
            <a:off x="914400" y="914400"/>
            <a:ext cx="4954500" cy="46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August 4, 2026</a:t>
            </a:r>
            <a:endParaRPr b="0"/>
          </a:p>
        </p:txBody>
      </p:sp>
      <p:sp>
        <p:nvSpPr>
          <p:cNvPr id="95" name="Google Shape;95;p18"/>
          <p:cNvSpPr txBox="1">
            <a:spLocks noGrp="1"/>
          </p:cNvSpPr>
          <p:nvPr>
            <p:ph type="subTitle" idx="1"/>
          </p:nvPr>
        </p:nvSpPr>
        <p:spPr>
          <a:xfrm>
            <a:off x="914400" y="6420725"/>
            <a:ext cx="43485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Ari Hammond</a:t>
            </a:r>
            <a:endParaRPr sz="2200"/>
          </a:p>
        </p:txBody>
      </p:sp>
      <p:sp>
        <p:nvSpPr>
          <p:cNvPr id="96" name="Google Shape;96;p18"/>
          <p:cNvSpPr txBox="1">
            <a:spLocks noGrp="1"/>
          </p:cNvSpPr>
          <p:nvPr>
            <p:ph type="ctrTitle"/>
          </p:nvPr>
        </p:nvSpPr>
        <p:spPr>
          <a:xfrm>
            <a:off x="914400" y="4880250"/>
            <a:ext cx="16256100" cy="49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A Case Study on Critical GIS and Black Feminist Geographies</a:t>
            </a:r>
            <a:endParaRPr sz="3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>
            <a:spLocks noGrp="1"/>
          </p:cNvSpPr>
          <p:nvPr>
            <p:ph type="title"/>
          </p:nvPr>
        </p:nvSpPr>
        <p:spPr>
          <a:xfrm>
            <a:off x="914400" y="914400"/>
            <a:ext cx="8431800" cy="492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Geographic Information Systems (GIS)</a:t>
            </a:r>
            <a:endParaRPr sz="3200"/>
          </a:p>
        </p:txBody>
      </p:sp>
      <p:sp>
        <p:nvSpPr>
          <p:cNvPr id="102" name="Google Shape;102;p19"/>
          <p:cNvSpPr txBox="1">
            <a:spLocks noGrp="1"/>
          </p:cNvSpPr>
          <p:nvPr>
            <p:ph type="body" idx="5"/>
          </p:nvPr>
        </p:nvSpPr>
        <p:spPr>
          <a:xfrm>
            <a:off x="9319500" y="5206825"/>
            <a:ext cx="6891900" cy="1200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400"/>
              </a:spcAft>
              <a:buNone/>
            </a:pPr>
            <a:r>
              <a:rPr lang="en"/>
              <a:t>Positions one interpretation/representation as “unquestionable facts” and classifies data to fit this narrative</a:t>
            </a:r>
            <a:endParaRPr/>
          </a:p>
        </p:txBody>
      </p:sp>
      <p:sp>
        <p:nvSpPr>
          <p:cNvPr id="103" name="Google Shape;103;p19"/>
          <p:cNvSpPr txBox="1">
            <a:spLocks noGrp="1"/>
          </p:cNvSpPr>
          <p:nvPr>
            <p:ph type="body" idx="7"/>
          </p:nvPr>
        </p:nvSpPr>
        <p:spPr>
          <a:xfrm>
            <a:off x="9319500" y="7465525"/>
            <a:ext cx="7490700" cy="800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400"/>
              </a:spcAft>
              <a:buNone/>
            </a:pPr>
            <a:r>
              <a:rPr lang="en"/>
              <a:t>All data and visualizations are objective and neutral</a:t>
            </a:r>
            <a:endParaRPr/>
          </a:p>
        </p:txBody>
      </p:sp>
      <p:sp>
        <p:nvSpPr>
          <p:cNvPr id="104" name="Google Shape;104;p19"/>
          <p:cNvSpPr txBox="1">
            <a:spLocks noGrp="1"/>
          </p:cNvSpPr>
          <p:nvPr>
            <p:ph type="body" idx="3"/>
          </p:nvPr>
        </p:nvSpPr>
        <p:spPr>
          <a:xfrm>
            <a:off x="9319500" y="2948125"/>
            <a:ext cx="6891900" cy="1200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400"/>
              </a:spcAft>
              <a:buNone/>
            </a:pPr>
            <a:r>
              <a:rPr lang="en"/>
              <a:t>Seeks to generate “universally applicable principles or to make generalizations about the world”</a:t>
            </a:r>
            <a:endParaRPr baseline="30000"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914400" y="2299825"/>
            <a:ext cx="6507300" cy="831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400"/>
              </a:spcAft>
              <a:buNone/>
            </a:pPr>
            <a:r>
              <a:rPr lang="en" sz="2700"/>
              <a:t>Computer programs that </a:t>
            </a:r>
            <a:r>
              <a:rPr lang="en" sz="2700" b="1"/>
              <a:t>store, manage, analyze, and visualize </a:t>
            </a:r>
            <a:r>
              <a:rPr lang="en" sz="2700"/>
              <a:t>geographic data</a:t>
            </a:r>
            <a:endParaRPr sz="2700"/>
          </a:p>
        </p:txBody>
      </p:sp>
      <p:sp>
        <p:nvSpPr>
          <p:cNvPr id="106" name="Google Shape;106;p19"/>
          <p:cNvSpPr txBox="1">
            <a:spLocks noGrp="1"/>
          </p:cNvSpPr>
          <p:nvPr>
            <p:ph type="subTitle" idx="2"/>
          </p:nvPr>
        </p:nvSpPr>
        <p:spPr>
          <a:xfrm>
            <a:off x="9328350" y="2299825"/>
            <a:ext cx="57780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Generalizes Knowledge</a:t>
            </a:r>
            <a:endParaRPr/>
          </a:p>
        </p:txBody>
      </p:sp>
      <p:sp>
        <p:nvSpPr>
          <p:cNvPr id="107" name="Google Shape;107;p19"/>
          <p:cNvSpPr txBox="1">
            <a:spLocks noGrp="1"/>
          </p:cNvSpPr>
          <p:nvPr>
            <p:ph type="subTitle" idx="4"/>
          </p:nvPr>
        </p:nvSpPr>
        <p:spPr>
          <a:xfrm>
            <a:off x="9337200" y="4558525"/>
            <a:ext cx="57780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Imposes Binaries</a:t>
            </a:r>
            <a:endParaRPr/>
          </a:p>
        </p:txBody>
      </p:sp>
      <p:sp>
        <p:nvSpPr>
          <p:cNvPr id="108" name="Google Shape;108;p19"/>
          <p:cNvSpPr txBox="1">
            <a:spLocks noGrp="1"/>
          </p:cNvSpPr>
          <p:nvPr>
            <p:ph type="subTitle" idx="6"/>
          </p:nvPr>
        </p:nvSpPr>
        <p:spPr>
          <a:xfrm>
            <a:off x="9337200" y="6817225"/>
            <a:ext cx="62466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Purports Objectivity and Neutrality</a:t>
            </a:r>
            <a:endParaRPr/>
          </a:p>
        </p:txBody>
      </p:sp>
      <p:pic>
        <p:nvPicPr>
          <p:cNvPr id="109" name="Google Shape;109;p19" descr="File:Layers of information lolly.jpg - Wikimedia Common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4951" y="3531350"/>
            <a:ext cx="4586199" cy="6002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>
            <a:spLocks noGrp="1"/>
          </p:cNvSpPr>
          <p:nvPr>
            <p:ph type="title"/>
          </p:nvPr>
        </p:nvSpPr>
        <p:spPr>
          <a:xfrm>
            <a:off x="914400" y="914400"/>
            <a:ext cx="8046900" cy="461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Critical GIS</a:t>
            </a:r>
            <a:endParaRPr/>
          </a:p>
        </p:txBody>
      </p:sp>
      <p:sp>
        <p:nvSpPr>
          <p:cNvPr id="115" name="Google Shape;115;p20"/>
          <p:cNvSpPr txBox="1">
            <a:spLocks noGrp="1"/>
          </p:cNvSpPr>
          <p:nvPr>
            <p:ph type="body" idx="1"/>
          </p:nvPr>
        </p:nvSpPr>
        <p:spPr>
          <a:xfrm>
            <a:off x="914400" y="2263100"/>
            <a:ext cx="7490700" cy="1200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400"/>
              </a:spcAft>
              <a:buNone/>
            </a:pPr>
            <a:r>
              <a:rPr lang="en"/>
              <a:t>A set of </a:t>
            </a:r>
            <a:r>
              <a:rPr lang="en" b="1"/>
              <a:t>practices, methods, and approaches to GIS </a:t>
            </a:r>
            <a:r>
              <a:rPr lang="en"/>
              <a:t>that push back against its perceived objectivity and positivist assumptions.</a:t>
            </a:r>
            <a:endParaRPr/>
          </a:p>
        </p:txBody>
      </p:sp>
      <p:sp>
        <p:nvSpPr>
          <p:cNvPr id="116" name="Google Shape;116;p20"/>
          <p:cNvSpPr txBox="1">
            <a:spLocks noGrp="1"/>
          </p:cNvSpPr>
          <p:nvPr>
            <p:ph type="subTitle" idx="2"/>
          </p:nvPr>
        </p:nvSpPr>
        <p:spPr>
          <a:xfrm>
            <a:off x="9337200" y="2263100"/>
            <a:ext cx="57780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Situated Knowledge</a:t>
            </a:r>
            <a:endParaRPr/>
          </a:p>
        </p:txBody>
      </p:sp>
      <p:sp>
        <p:nvSpPr>
          <p:cNvPr id="117" name="Google Shape;117;p20"/>
          <p:cNvSpPr txBox="1">
            <a:spLocks noGrp="1"/>
          </p:cNvSpPr>
          <p:nvPr>
            <p:ph type="body" idx="3"/>
          </p:nvPr>
        </p:nvSpPr>
        <p:spPr>
          <a:xfrm>
            <a:off x="9319500" y="2911400"/>
            <a:ext cx="7268700" cy="800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400"/>
              </a:spcAft>
              <a:buNone/>
            </a:pPr>
            <a:r>
              <a:rPr lang="en"/>
              <a:t>Acknowledges that “all knowledge comes from somewhere and is therefore partial”</a:t>
            </a:r>
            <a:endParaRPr/>
          </a:p>
        </p:txBody>
      </p:sp>
      <p:sp>
        <p:nvSpPr>
          <p:cNvPr id="118" name="Google Shape;118;p20"/>
          <p:cNvSpPr txBox="1">
            <a:spLocks noGrp="1"/>
          </p:cNvSpPr>
          <p:nvPr>
            <p:ph type="subTitle" idx="4"/>
          </p:nvPr>
        </p:nvSpPr>
        <p:spPr>
          <a:xfrm>
            <a:off x="9346050" y="4521800"/>
            <a:ext cx="57780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Perspectives</a:t>
            </a:r>
            <a:endParaRPr/>
          </a:p>
        </p:txBody>
      </p:sp>
      <p:sp>
        <p:nvSpPr>
          <p:cNvPr id="119" name="Google Shape;119;p20"/>
          <p:cNvSpPr txBox="1">
            <a:spLocks noGrp="1"/>
          </p:cNvSpPr>
          <p:nvPr>
            <p:ph type="body" idx="5"/>
          </p:nvPr>
        </p:nvSpPr>
        <p:spPr>
          <a:xfrm>
            <a:off x="9328350" y="5170100"/>
            <a:ext cx="7268700" cy="800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400"/>
              </a:spcAft>
              <a:buNone/>
            </a:pPr>
            <a:r>
              <a:rPr lang="en"/>
              <a:t>Examines knowledge across multiple scales and contexts</a:t>
            </a:r>
            <a:endParaRPr/>
          </a:p>
        </p:txBody>
      </p:sp>
      <p:sp>
        <p:nvSpPr>
          <p:cNvPr id="120" name="Google Shape;120;p20"/>
          <p:cNvSpPr txBox="1">
            <a:spLocks noGrp="1"/>
          </p:cNvSpPr>
          <p:nvPr>
            <p:ph type="subTitle" idx="6"/>
          </p:nvPr>
        </p:nvSpPr>
        <p:spPr>
          <a:xfrm>
            <a:off x="9346050" y="6598250"/>
            <a:ext cx="57780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Bodies and Emotions</a:t>
            </a:r>
            <a:endParaRPr/>
          </a:p>
        </p:txBody>
      </p:sp>
      <p:sp>
        <p:nvSpPr>
          <p:cNvPr id="121" name="Google Shape;121;p20"/>
          <p:cNvSpPr txBox="1">
            <a:spLocks noGrp="1"/>
          </p:cNvSpPr>
          <p:nvPr>
            <p:ph type="body" idx="7"/>
          </p:nvPr>
        </p:nvSpPr>
        <p:spPr>
          <a:xfrm>
            <a:off x="9346050" y="7209550"/>
            <a:ext cx="7268700" cy="8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Requires subjectivity by “recognizing emotion and embodiment as ways of knowing”</a:t>
            </a:r>
            <a:endParaRPr/>
          </a:p>
        </p:txBody>
      </p:sp>
      <p:pic>
        <p:nvPicPr>
          <p:cNvPr id="122" name="Google Shape;122;p20" title="Screenshot 2026-07-30 at 9.53.49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6626" y="4033200"/>
            <a:ext cx="6746249" cy="5339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1"/>
          <p:cNvPicPr preferRelativeResize="0"/>
          <p:nvPr/>
        </p:nvPicPr>
        <p:blipFill rotWithShape="1">
          <a:blip r:embed="rId3">
            <a:alphaModFix/>
          </a:blip>
          <a:srcRect l="8710" r="8727"/>
          <a:stretch/>
        </p:blipFill>
        <p:spPr>
          <a:xfrm>
            <a:off x="1720713" y="1012100"/>
            <a:ext cx="14846577" cy="8262801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1"/>
          <p:cNvSpPr txBox="1"/>
          <p:nvPr/>
        </p:nvSpPr>
        <p:spPr>
          <a:xfrm>
            <a:off x="8385300" y="4312350"/>
            <a:ext cx="15174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b="1" dirty="0">
                <a:solidFill>
                  <a:srgbClr val="FF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?</a:t>
            </a:r>
            <a:endParaRPr sz="9600" b="1" dirty="0">
              <a:solidFill>
                <a:srgbClr val="FF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2"/>
          <p:cNvSpPr txBox="1">
            <a:spLocks noGrp="1"/>
          </p:cNvSpPr>
          <p:nvPr>
            <p:ph type="title"/>
          </p:nvPr>
        </p:nvSpPr>
        <p:spPr>
          <a:xfrm>
            <a:off x="914400" y="914400"/>
            <a:ext cx="8046900" cy="49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Black Feminist Geographies</a:t>
            </a:r>
            <a:endParaRPr/>
          </a:p>
        </p:txBody>
      </p:sp>
      <p:sp>
        <p:nvSpPr>
          <p:cNvPr id="134" name="Google Shape;134;p22"/>
          <p:cNvSpPr txBox="1"/>
          <p:nvPr/>
        </p:nvSpPr>
        <p:spPr>
          <a:xfrm>
            <a:off x="8968500" y="2064650"/>
            <a:ext cx="71664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 b="1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35" name="Google Shape;135;p22"/>
          <p:cNvSpPr txBox="1">
            <a:spLocks noGrp="1"/>
          </p:cNvSpPr>
          <p:nvPr>
            <p:ph type="title"/>
          </p:nvPr>
        </p:nvSpPr>
        <p:spPr>
          <a:xfrm>
            <a:off x="2671350" y="6501606"/>
            <a:ext cx="12945300" cy="923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accent4"/>
                </a:highlight>
              </a:rPr>
              <a:t>However, Black women’s intersectional geographies and ways of knowing have not been directly considered or applied to critical GIS.</a:t>
            </a:r>
            <a:endParaRPr>
              <a:highlight>
                <a:schemeClr val="accent4"/>
              </a:highlight>
            </a:endParaRPr>
          </a:p>
        </p:txBody>
      </p:sp>
      <p:sp>
        <p:nvSpPr>
          <p:cNvPr id="136" name="Google Shape;136;p22"/>
          <p:cNvSpPr txBox="1">
            <a:spLocks noGrp="1"/>
          </p:cNvSpPr>
          <p:nvPr>
            <p:ph type="body" idx="1"/>
          </p:nvPr>
        </p:nvSpPr>
        <p:spPr>
          <a:xfrm>
            <a:off x="1788150" y="2861981"/>
            <a:ext cx="14711700" cy="3009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Black feminist geographies </a:t>
            </a:r>
            <a:r>
              <a:rPr lang="en"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describe how Black women’s uniquely intersectional experience of racial-sexual hierarchies and oppression shape our creation and definition of geographic landscapes.</a:t>
            </a:r>
            <a:endParaRPr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2400"/>
              </a:spcAft>
              <a:buNone/>
            </a:pPr>
            <a:r>
              <a:rPr lang="en"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This creates an ambiguous,</a:t>
            </a:r>
            <a:r>
              <a:rPr lang="en" b="1"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subjective experience of geography</a:t>
            </a:r>
            <a:r>
              <a:rPr lang="en"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that captures understandings of space made “both </a:t>
            </a:r>
            <a:r>
              <a:rPr lang="en" i="1"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for</a:t>
            </a:r>
            <a:r>
              <a:rPr lang="en"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[us] through processes of control and </a:t>
            </a:r>
            <a:r>
              <a:rPr lang="en" i="1"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by</a:t>
            </a:r>
            <a:r>
              <a:rPr lang="en"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[us] through means of resistance.”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>
            <a:spLocks noGrp="1"/>
          </p:cNvSpPr>
          <p:nvPr>
            <p:ph type="title"/>
          </p:nvPr>
        </p:nvSpPr>
        <p:spPr>
          <a:xfrm>
            <a:off x="5036875" y="3141575"/>
            <a:ext cx="132510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Inserting Black feminist perspectives into critical GIS</a:t>
            </a:r>
            <a:endParaRPr/>
          </a:p>
        </p:txBody>
      </p:sp>
      <p:sp>
        <p:nvSpPr>
          <p:cNvPr id="142" name="Google Shape;142;p23"/>
          <p:cNvSpPr txBox="1">
            <a:spLocks noGrp="1"/>
          </p:cNvSpPr>
          <p:nvPr>
            <p:ph type="body" idx="1"/>
          </p:nvPr>
        </p:nvSpPr>
        <p:spPr>
          <a:xfrm>
            <a:off x="5036875" y="4448175"/>
            <a:ext cx="11848500" cy="281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400"/>
              </a:spcAft>
              <a:buNone/>
            </a:pPr>
            <a:r>
              <a:rPr lang="en" sz="5500"/>
              <a:t>How might visualizing Black feminist geographies disrupt traditional assumptions in GIS technology?</a:t>
            </a:r>
            <a:endParaRPr sz="5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4"/>
          <p:cNvSpPr txBox="1">
            <a:spLocks noGrp="1"/>
          </p:cNvSpPr>
          <p:nvPr>
            <p:ph type="title"/>
          </p:nvPr>
        </p:nvSpPr>
        <p:spPr>
          <a:xfrm>
            <a:off x="914400" y="914400"/>
            <a:ext cx="8046900" cy="461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as a Mode of Inquiry</a:t>
            </a:r>
            <a:endParaRPr/>
          </a:p>
        </p:txBody>
      </p:sp>
      <p:pic>
        <p:nvPicPr>
          <p:cNvPr id="148" name="Google Shape;14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4583" y="3193050"/>
            <a:ext cx="10138844" cy="6762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4"/>
          <p:cNvSpPr txBox="1">
            <a:spLocks noGrp="1"/>
          </p:cNvSpPr>
          <p:nvPr>
            <p:ph type="body" idx="1"/>
          </p:nvPr>
        </p:nvSpPr>
        <p:spPr>
          <a:xfrm>
            <a:off x="1857550" y="1942925"/>
            <a:ext cx="13919400" cy="861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A </a:t>
            </a:r>
            <a:r>
              <a:rPr lang="en" sz="2800" b="1">
                <a:solidFill>
                  <a:srgbClr val="000000"/>
                </a:solidFill>
              </a:rPr>
              <a:t>research-through-design study</a:t>
            </a:r>
            <a:r>
              <a:rPr lang="en" sz="2800">
                <a:solidFill>
                  <a:srgbClr val="000000"/>
                </a:solidFill>
              </a:rPr>
              <a:t> of Black feminist geographies using</a:t>
            </a:r>
            <a:r>
              <a:rPr lang="en" sz="2800" b="1">
                <a:solidFill>
                  <a:srgbClr val="000000"/>
                </a:solidFill>
              </a:rPr>
              <a:t> </a:t>
            </a:r>
            <a:r>
              <a:rPr lang="en" sz="2800" b="1">
                <a:highlight>
                  <a:schemeClr val="accent6"/>
                </a:highlight>
              </a:rPr>
              <a:t>oral histories and ArcGIS</a:t>
            </a:r>
            <a:r>
              <a:rPr lang="en" sz="2800" b="1"/>
              <a:t> </a:t>
            </a:r>
            <a:r>
              <a:rPr lang="en" sz="2800">
                <a:solidFill>
                  <a:srgbClr val="000000"/>
                </a:solidFill>
              </a:rPr>
              <a:t>to visualize Black women’s geographies of Cambridge.</a:t>
            </a:r>
            <a:endParaRPr sz="2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>
            <a:spLocks noGrp="1"/>
          </p:cNvSpPr>
          <p:nvPr>
            <p:ph type="title"/>
          </p:nvPr>
        </p:nvSpPr>
        <p:spPr>
          <a:xfrm>
            <a:off x="914400" y="914400"/>
            <a:ext cx="8046900" cy="49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Oral History Thematic Analysis</a:t>
            </a:r>
            <a:endParaRPr/>
          </a:p>
        </p:txBody>
      </p:sp>
      <p:pic>
        <p:nvPicPr>
          <p:cNvPr id="155" name="Google Shape;155;p25" title="newplot.pn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5363" t="7365" r="25368"/>
          <a:stretch/>
        </p:blipFill>
        <p:spPr>
          <a:xfrm>
            <a:off x="9319500" y="238254"/>
            <a:ext cx="8968501" cy="9641697"/>
          </a:xfrm>
          <a:prstGeom prst="rect">
            <a:avLst/>
          </a:prstGeom>
        </p:spPr>
      </p:pic>
      <p:sp>
        <p:nvSpPr>
          <p:cNvPr id="156" name="Google Shape;156;p25"/>
          <p:cNvSpPr txBox="1">
            <a:spLocks noGrp="1"/>
          </p:cNvSpPr>
          <p:nvPr>
            <p:ph type="subTitle" idx="4294967295"/>
          </p:nvPr>
        </p:nvSpPr>
        <p:spPr>
          <a:xfrm>
            <a:off x="914400" y="2108875"/>
            <a:ext cx="7273800" cy="4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400"/>
              </a:spcAft>
              <a:buNone/>
            </a:pPr>
            <a:r>
              <a:rPr lang="en" sz="2600" b="1">
                <a:latin typeface="Instrument Sans"/>
                <a:ea typeface="Instrument Sans"/>
                <a:cs typeface="Instrument Sans"/>
                <a:sym typeface="Instrument Sans"/>
              </a:rPr>
              <a:t>Common Neighborhoods, Places, and Streets</a:t>
            </a:r>
            <a:endParaRPr sz="2600" b="1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57" name="Google Shape;157;p25"/>
          <p:cNvSpPr txBox="1">
            <a:spLocks noGrp="1"/>
          </p:cNvSpPr>
          <p:nvPr>
            <p:ph type="body" idx="4294967295"/>
          </p:nvPr>
        </p:nvSpPr>
        <p:spPr>
          <a:xfrm>
            <a:off x="914400" y="2636575"/>
            <a:ext cx="7273800" cy="1219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400"/>
              </a:spcAft>
              <a:buNone/>
            </a:pPr>
            <a:r>
              <a:rPr lang="en" sz="2400">
                <a:latin typeface="Instrument Sans"/>
                <a:ea typeface="Instrument Sans"/>
                <a:cs typeface="Instrument Sans"/>
                <a:sym typeface="Instrument Sans"/>
              </a:rPr>
              <a:t>Names of churches, schools, streets, and other activity spaces to serve as anchors around which to orient more situated knowledge</a:t>
            </a:r>
            <a:endParaRPr sz="24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58" name="Google Shape;158;p25"/>
          <p:cNvSpPr txBox="1">
            <a:spLocks noGrp="1"/>
          </p:cNvSpPr>
          <p:nvPr>
            <p:ph type="subTitle" idx="4294967295"/>
          </p:nvPr>
        </p:nvSpPr>
        <p:spPr>
          <a:xfrm>
            <a:off x="914400" y="4442138"/>
            <a:ext cx="7045200" cy="4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400"/>
              </a:spcAft>
              <a:buNone/>
            </a:pPr>
            <a:r>
              <a:rPr lang="en" sz="2600" b="1">
                <a:latin typeface="Instrument Sans"/>
                <a:ea typeface="Instrument Sans"/>
                <a:cs typeface="Instrument Sans"/>
                <a:sym typeface="Instrument Sans"/>
              </a:rPr>
              <a:t>Pride in Community and Homeownership</a:t>
            </a:r>
            <a:endParaRPr sz="2600" b="1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59" name="Google Shape;159;p25"/>
          <p:cNvSpPr txBox="1">
            <a:spLocks noGrp="1"/>
          </p:cNvSpPr>
          <p:nvPr>
            <p:ph type="body" idx="4294967295"/>
          </p:nvPr>
        </p:nvSpPr>
        <p:spPr>
          <a:xfrm>
            <a:off x="914400" y="4941600"/>
            <a:ext cx="7451100" cy="1219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400"/>
              </a:spcAft>
              <a:buNone/>
            </a:pPr>
            <a:r>
              <a:rPr lang="en" sz="2400">
                <a:latin typeface="Instrument Sans"/>
                <a:ea typeface="Instrument Sans"/>
                <a:cs typeface="Instrument Sans"/>
                <a:sym typeface="Instrument Sans"/>
              </a:rPr>
              <a:t>All women spoke with pride, affection, and nostalgia for their neighborhoods, particularly about homeownership and communal care</a:t>
            </a:r>
            <a:endParaRPr sz="24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0" name="Google Shape;160;p25"/>
          <p:cNvSpPr txBox="1">
            <a:spLocks noGrp="1"/>
          </p:cNvSpPr>
          <p:nvPr>
            <p:ph type="subTitle" idx="4294967295"/>
          </p:nvPr>
        </p:nvSpPr>
        <p:spPr>
          <a:xfrm>
            <a:off x="914400" y="6747163"/>
            <a:ext cx="6846600" cy="4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400"/>
              </a:spcAft>
              <a:buNone/>
            </a:pPr>
            <a:r>
              <a:rPr lang="en" sz="2600" b="1">
                <a:latin typeface="Instrument Sans"/>
                <a:ea typeface="Instrument Sans"/>
                <a:cs typeface="Instrument Sans"/>
                <a:sym typeface="Instrument Sans"/>
              </a:rPr>
              <a:t>Prevalent Negativity about Gentrification</a:t>
            </a:r>
            <a:endParaRPr sz="2600" b="1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1" name="Google Shape;161;p25"/>
          <p:cNvSpPr txBox="1">
            <a:spLocks noGrp="1"/>
          </p:cNvSpPr>
          <p:nvPr>
            <p:ph type="body" idx="4294967295"/>
          </p:nvPr>
        </p:nvSpPr>
        <p:spPr>
          <a:xfrm>
            <a:off x="914400" y="7218425"/>
            <a:ext cx="7451100" cy="16440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400"/>
              </a:spcAft>
              <a:buNone/>
            </a:pPr>
            <a:r>
              <a:rPr lang="en" sz="2400">
                <a:latin typeface="Instrument Sans"/>
                <a:ea typeface="Instrument Sans"/>
                <a:cs typeface="Instrument Sans"/>
                <a:sym typeface="Instrument Sans"/>
              </a:rPr>
              <a:t>Despite conflicting opinions on race in the 20th century, all women mentioned demographic, social and cultural changes resulting from displacement caused by real estate speculation</a:t>
            </a:r>
            <a:endParaRPr sz="24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>
            <a:spLocks noGrp="1"/>
          </p:cNvSpPr>
          <p:nvPr>
            <p:ph type="title"/>
          </p:nvPr>
        </p:nvSpPr>
        <p:spPr>
          <a:xfrm>
            <a:off x="914400" y="914400"/>
            <a:ext cx="11493600" cy="49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Process: Data Feminism and Geospatial Technologies</a:t>
            </a:r>
            <a:endParaRPr/>
          </a:p>
        </p:txBody>
      </p:sp>
      <p:sp>
        <p:nvSpPr>
          <p:cNvPr id="167" name="Google Shape;167;p26"/>
          <p:cNvSpPr txBox="1">
            <a:spLocks noGrp="1"/>
          </p:cNvSpPr>
          <p:nvPr>
            <p:ph type="subTitle" idx="3"/>
          </p:nvPr>
        </p:nvSpPr>
        <p:spPr>
          <a:xfrm>
            <a:off x="6537900" y="2618250"/>
            <a:ext cx="52299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</a:t>
            </a:r>
            <a:endParaRPr/>
          </a:p>
        </p:txBody>
      </p:sp>
      <p:sp>
        <p:nvSpPr>
          <p:cNvPr id="168" name="Google Shape;168;p26"/>
          <p:cNvSpPr txBox="1">
            <a:spLocks noGrp="1"/>
          </p:cNvSpPr>
          <p:nvPr>
            <p:ph type="body" idx="4"/>
          </p:nvPr>
        </p:nvSpPr>
        <p:spPr>
          <a:xfrm>
            <a:off x="6520200" y="3266550"/>
            <a:ext cx="5247600" cy="40020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 b="1"/>
              <a:t>Embrace Pluralism: </a:t>
            </a:r>
            <a:r>
              <a:rPr lang="en"/>
              <a:t>Multiple points of entry and forms of information. Leveraging multimedia affordances</a:t>
            </a:r>
            <a:endParaRPr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 b="1"/>
              <a:t>Embodiment and Affect: </a:t>
            </a:r>
            <a:r>
              <a:rPr lang="en"/>
              <a:t>Color choices associated with expressed or inferred emotions</a:t>
            </a:r>
            <a:endParaRPr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 b="1"/>
              <a:t>Rethink Binaries: </a:t>
            </a:r>
            <a:r>
              <a:rPr lang="en"/>
              <a:t>Alternative conceptions of open/closed borders.</a:t>
            </a:r>
            <a:endParaRPr/>
          </a:p>
        </p:txBody>
      </p:sp>
      <p:sp>
        <p:nvSpPr>
          <p:cNvPr id="169" name="Google Shape;169;p26"/>
          <p:cNvSpPr txBox="1">
            <a:spLocks noGrp="1"/>
          </p:cNvSpPr>
          <p:nvPr>
            <p:ph type="subTitle" idx="5"/>
          </p:nvPr>
        </p:nvSpPr>
        <p:spPr>
          <a:xfrm>
            <a:off x="932100" y="2618250"/>
            <a:ext cx="52299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170" name="Google Shape;170;p26"/>
          <p:cNvSpPr txBox="1">
            <a:spLocks noGrp="1"/>
          </p:cNvSpPr>
          <p:nvPr>
            <p:ph type="body" idx="6"/>
          </p:nvPr>
        </p:nvSpPr>
        <p:spPr>
          <a:xfrm>
            <a:off x="914400" y="3266550"/>
            <a:ext cx="5247600" cy="4402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 b="1"/>
              <a:t>Consider Context:</a:t>
            </a:r>
            <a:r>
              <a:rPr lang="en"/>
              <a:t> Situated knowledge and personal geographies</a:t>
            </a:r>
            <a:endParaRPr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 b="1"/>
              <a:t>Rethink Binaries: </a:t>
            </a:r>
            <a:r>
              <a:rPr lang="en"/>
              <a:t>Uplift endonyms expressed by Black women rather than exonyms designated by those in power</a:t>
            </a:r>
            <a:endParaRPr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 b="1"/>
              <a:t>Embrace Pluralism: </a:t>
            </a:r>
            <a:r>
              <a:rPr lang="en"/>
              <a:t>Contradictory and complementary accounts of spatial and social phenomena</a:t>
            </a:r>
            <a:endParaRPr/>
          </a:p>
        </p:txBody>
      </p:sp>
      <p:sp>
        <p:nvSpPr>
          <p:cNvPr id="171" name="Google Shape;171;p26"/>
          <p:cNvSpPr txBox="1">
            <a:spLocks noGrp="1"/>
          </p:cNvSpPr>
          <p:nvPr>
            <p:ph type="subTitle" idx="3"/>
          </p:nvPr>
        </p:nvSpPr>
        <p:spPr>
          <a:xfrm>
            <a:off x="12408000" y="2618250"/>
            <a:ext cx="52299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</a:t>
            </a:r>
            <a:endParaRPr/>
          </a:p>
        </p:txBody>
      </p:sp>
      <p:sp>
        <p:nvSpPr>
          <p:cNvPr id="172" name="Google Shape;172;p26"/>
          <p:cNvSpPr txBox="1">
            <a:spLocks noGrp="1"/>
          </p:cNvSpPr>
          <p:nvPr>
            <p:ph type="body" idx="4"/>
          </p:nvPr>
        </p:nvSpPr>
        <p:spPr>
          <a:xfrm>
            <a:off x="12399150" y="3266550"/>
            <a:ext cx="5247600" cy="3601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 b="1"/>
              <a:t>Reflexivity: </a:t>
            </a:r>
            <a:r>
              <a:rPr lang="en"/>
              <a:t>Using the documentation process to stop and reflect on my decisions given the purpose, medium and audience</a:t>
            </a:r>
            <a:endParaRPr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 b="1"/>
              <a:t>Make Labor Visible: </a:t>
            </a:r>
            <a:r>
              <a:rPr lang="en"/>
              <a:t>Highlight the labor of the archivists and community groups recording the histories</a:t>
            </a:r>
            <a:endParaRPr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>
            <a:spLocks noGrp="1"/>
          </p:cNvSpPr>
          <p:nvPr>
            <p:ph type="title"/>
          </p:nvPr>
        </p:nvSpPr>
        <p:spPr>
          <a:xfrm>
            <a:off x="914400" y="914400"/>
            <a:ext cx="8046900" cy="461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Findings from Final Visualization</a:t>
            </a:r>
            <a:endParaRPr/>
          </a:p>
        </p:txBody>
      </p:sp>
      <p:sp>
        <p:nvSpPr>
          <p:cNvPr id="178" name="Google Shape;178;p27"/>
          <p:cNvSpPr txBox="1">
            <a:spLocks noGrp="1"/>
          </p:cNvSpPr>
          <p:nvPr>
            <p:ph type="subTitle" idx="1"/>
          </p:nvPr>
        </p:nvSpPr>
        <p:spPr>
          <a:xfrm>
            <a:off x="932100" y="1710638"/>
            <a:ext cx="5229900" cy="800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Self-Identification vs Imposed Definition</a:t>
            </a:r>
            <a:endParaRPr sz="2600"/>
          </a:p>
        </p:txBody>
      </p:sp>
      <p:sp>
        <p:nvSpPr>
          <p:cNvPr id="179" name="Google Shape;179;p27"/>
          <p:cNvSpPr txBox="1">
            <a:spLocks noGrp="1"/>
          </p:cNvSpPr>
          <p:nvPr>
            <p:ph type="body" idx="2"/>
          </p:nvPr>
        </p:nvSpPr>
        <p:spPr>
          <a:xfrm>
            <a:off x="914400" y="7845975"/>
            <a:ext cx="5247600" cy="1847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400"/>
              </a:spcAft>
              <a:buNone/>
            </a:pPr>
            <a:r>
              <a:rPr lang="en" sz="2000"/>
              <a:t>Neighborhoods were named and defined differently by these Black women than by the city. </a:t>
            </a:r>
            <a:r>
              <a:rPr lang="en" sz="2000" b="1"/>
              <a:t>Centering these borders and endonyms </a:t>
            </a:r>
            <a:r>
              <a:rPr lang="en" sz="2000"/>
              <a:t>counters the definitions imposed by city data and reinforced by ArcGIS basemaps</a:t>
            </a:r>
            <a:endParaRPr sz="2000"/>
          </a:p>
        </p:txBody>
      </p:sp>
      <p:sp>
        <p:nvSpPr>
          <p:cNvPr id="180" name="Google Shape;180;p27"/>
          <p:cNvSpPr txBox="1">
            <a:spLocks noGrp="1"/>
          </p:cNvSpPr>
          <p:nvPr>
            <p:ph type="subTitle" idx="3"/>
          </p:nvPr>
        </p:nvSpPr>
        <p:spPr>
          <a:xfrm>
            <a:off x="6537900" y="1710638"/>
            <a:ext cx="5229900" cy="800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Emotional Complexity through Layers</a:t>
            </a:r>
            <a:endParaRPr sz="2600"/>
          </a:p>
        </p:txBody>
      </p:sp>
      <p:sp>
        <p:nvSpPr>
          <p:cNvPr id="181" name="Google Shape;181;p27"/>
          <p:cNvSpPr txBox="1">
            <a:spLocks noGrp="1"/>
          </p:cNvSpPr>
          <p:nvPr>
            <p:ph type="body" idx="4"/>
          </p:nvPr>
        </p:nvSpPr>
        <p:spPr>
          <a:xfrm>
            <a:off x="6520200" y="7845975"/>
            <a:ext cx="5247600" cy="2154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400"/>
              </a:spcAft>
              <a:buNone/>
            </a:pPr>
            <a:r>
              <a:rPr lang="en" sz="2000"/>
              <a:t>Despite feelings of disconnection and frustration with gentrification, these women still discussed their homes and neighborhoods with pride and affection. </a:t>
            </a:r>
            <a:r>
              <a:rPr lang="en" sz="2000" b="1"/>
              <a:t>Map layers can reveal, hide, and overlay these emotions </a:t>
            </a:r>
            <a:r>
              <a:rPr lang="en" sz="2000"/>
              <a:t>to convey the complexity of these women’s experiences</a:t>
            </a:r>
            <a:endParaRPr sz="2000"/>
          </a:p>
        </p:txBody>
      </p:sp>
      <p:sp>
        <p:nvSpPr>
          <p:cNvPr id="182" name="Google Shape;182;p27"/>
          <p:cNvSpPr txBox="1">
            <a:spLocks noGrp="1"/>
          </p:cNvSpPr>
          <p:nvPr>
            <p:ph type="subTitle" idx="5"/>
          </p:nvPr>
        </p:nvSpPr>
        <p:spPr>
          <a:xfrm>
            <a:off x="12296550" y="1714500"/>
            <a:ext cx="5229900" cy="4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Minimal Possible Disruption</a:t>
            </a:r>
            <a:endParaRPr sz="2600"/>
          </a:p>
        </p:txBody>
      </p:sp>
      <p:sp>
        <p:nvSpPr>
          <p:cNvPr id="183" name="Google Shape;183;p27"/>
          <p:cNvSpPr txBox="1">
            <a:spLocks noGrp="1"/>
          </p:cNvSpPr>
          <p:nvPr>
            <p:ph type="body" idx="6"/>
          </p:nvPr>
        </p:nvSpPr>
        <p:spPr>
          <a:xfrm>
            <a:off x="12287700" y="7845975"/>
            <a:ext cx="5247600" cy="1539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400"/>
              </a:spcAft>
              <a:buNone/>
            </a:pPr>
            <a:r>
              <a:rPr lang="en" sz="2000"/>
              <a:t>Throughout the design process, I ran into limitations with including sketch features in the map legend and stylizing pop-ups that were expected given the attempt to translate qualitative data in a quantitative platform.</a:t>
            </a:r>
            <a:endParaRPr sz="2000"/>
          </a:p>
        </p:txBody>
      </p:sp>
      <p:pic>
        <p:nvPicPr>
          <p:cNvPr id="184" name="Google Shape;184;p27" title="Screenshot 2026-07-30 at 10.01.31 AM.pn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9906" r="21633"/>
          <a:stretch/>
        </p:blipFill>
        <p:spPr>
          <a:xfrm>
            <a:off x="932100" y="2845575"/>
            <a:ext cx="5229901" cy="4830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7" title="Screenshot 2026-07-31 at 8.56.28 AM.png"/>
          <p:cNvPicPr preferRelativeResize="0">
            <a:picLocks noGrp="1"/>
          </p:cNvPicPr>
          <p:nvPr>
            <p:ph type="pic" idx="3"/>
          </p:nvPr>
        </p:nvPicPr>
        <p:blipFill rotWithShape="1">
          <a:blip r:embed="rId4">
            <a:alphaModFix/>
          </a:blip>
          <a:srcRect l="-35" t="-2140" r="50085" b="2140"/>
          <a:stretch/>
        </p:blipFill>
        <p:spPr>
          <a:xfrm>
            <a:off x="6529050" y="2845575"/>
            <a:ext cx="5229899" cy="483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7" title="Screenshot 2026-07-31 at 3.11.24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126000" y="3428811"/>
            <a:ext cx="5571026" cy="408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 txBox="1">
            <a:spLocks noGrp="1"/>
          </p:cNvSpPr>
          <p:nvPr>
            <p:ph type="title"/>
          </p:nvPr>
        </p:nvSpPr>
        <p:spPr>
          <a:xfrm>
            <a:off x="914400" y="890050"/>
            <a:ext cx="16459200" cy="51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92" name="Google Shape;192;p28"/>
          <p:cNvSpPr txBox="1"/>
          <p:nvPr/>
        </p:nvSpPr>
        <p:spPr>
          <a:xfrm>
            <a:off x="1193925" y="2494500"/>
            <a:ext cx="6864300" cy="5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Implications</a:t>
            </a:r>
            <a:endParaRPr sz="2800" b="1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 b="1" i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Cultural Memory in Cambridge</a:t>
            </a:r>
            <a:r>
              <a:rPr lang="en" sz="2400" i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: </a:t>
            </a:r>
            <a:r>
              <a:rPr lang="en" sz="24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These mapping the embodied and emotional geographies of Black Cantabrigian women offers unique insights on how the continued development of the city directly impacts.</a:t>
            </a:r>
            <a:endParaRPr sz="24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 b="1" i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Critical GIS:</a:t>
            </a:r>
            <a:r>
              <a:rPr lang="en" sz="2400" i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</a:t>
            </a:r>
            <a:r>
              <a:rPr lang="en" sz="24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This work corroborates previous findings in critical GIS that identify limitations of other software in visualizing embodied geographies and specifically explores these limitations as they apply to Black women’s geographies.</a:t>
            </a:r>
            <a:endParaRPr sz="24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93" name="Google Shape;193;p28"/>
          <p:cNvSpPr txBox="1"/>
          <p:nvPr/>
        </p:nvSpPr>
        <p:spPr>
          <a:xfrm>
            <a:off x="10291875" y="2494500"/>
            <a:ext cx="6864300" cy="5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Future Work</a:t>
            </a:r>
            <a:endParaRPr sz="2800" b="1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 b="1" i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Larger Scale/Extent</a:t>
            </a:r>
            <a:r>
              <a:rPr lang="en" sz="24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: Examining Black Women’s geographies across multiple cities or diasporic perspectives, or with a larger corpus of oral histories offers more variation and depth of knowledge</a:t>
            </a:r>
            <a:endParaRPr sz="24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 b="1" i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Participatory Approach: </a:t>
            </a:r>
            <a:r>
              <a:rPr lang="en" sz="24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Semi-structured interviews specifically about Black women’s geographic perspectives and/or community mapping projects provide situated knowledge from primary sources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9"/>
          <p:cNvSpPr txBox="1">
            <a:spLocks noGrp="1"/>
          </p:cNvSpPr>
          <p:nvPr>
            <p:ph type="title"/>
          </p:nvPr>
        </p:nvSpPr>
        <p:spPr>
          <a:xfrm>
            <a:off x="914400" y="890050"/>
            <a:ext cx="16459200" cy="51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199" name="Google Shape;199;p29"/>
          <p:cNvSpPr txBox="1"/>
          <p:nvPr/>
        </p:nvSpPr>
        <p:spPr>
          <a:xfrm>
            <a:off x="914400" y="2103917"/>
            <a:ext cx="9563100" cy="761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79400" lvl="0" indent="-2794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 err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Brailas</a:t>
            </a:r>
            <a:r>
              <a:rPr lang="en" sz="1050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, A., </a:t>
            </a:r>
            <a:r>
              <a:rPr lang="en" sz="1050" dirty="0" err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Tragou</a:t>
            </a:r>
            <a:r>
              <a:rPr lang="en" sz="1050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, E., &amp; </a:t>
            </a:r>
            <a:r>
              <a:rPr lang="en" sz="1050" dirty="0" err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Papachristopoulos</a:t>
            </a:r>
            <a:r>
              <a:rPr lang="en" sz="1050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, K. (2023). Introduction to Qualitative Data Analysis and Coding with </a:t>
            </a:r>
            <a:r>
              <a:rPr lang="en" sz="1050" dirty="0" err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QualCoder</a:t>
            </a:r>
            <a:r>
              <a:rPr lang="en" sz="1050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. </a:t>
            </a:r>
            <a:r>
              <a:rPr lang="en" sz="1050" i="1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American Journal of Qualitative Research</a:t>
            </a:r>
            <a:r>
              <a:rPr lang="en" sz="1050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, </a:t>
            </a:r>
            <a:r>
              <a:rPr lang="en" sz="1050" i="1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</a:t>
            </a:r>
            <a:r>
              <a:rPr lang="en" sz="1050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(3), 19–31.</a:t>
            </a:r>
            <a:r>
              <a:rPr lang="en" sz="1050" dirty="0">
                <a:solidFill>
                  <a:schemeClr val="dk1"/>
                </a:solidFill>
                <a:uFill>
                  <a:noFill/>
                </a:uFill>
                <a:latin typeface="Instrument Sans"/>
                <a:ea typeface="Instrument Sans"/>
                <a:cs typeface="Instrument Sans"/>
                <a:sym typeface="Instrument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" sz="1050" u="sng" dirty="0">
                <a:solidFill>
                  <a:schemeClr val="hlink"/>
                </a:solidFill>
                <a:latin typeface="Instrument Sans"/>
                <a:ea typeface="Instrument Sans"/>
                <a:cs typeface="Instrument Sans"/>
                <a:sym typeface="Instrument Sans"/>
                <a:hlinkClick r:id="rId3"/>
              </a:rPr>
              <a:t>https://doi.org/10.29333/ajqr/13230</a:t>
            </a:r>
            <a:endParaRPr sz="1050" u="sng" dirty="0">
              <a:solidFill>
                <a:schemeClr val="hlink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279400" lvl="0" indent="-2794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Brand, A. L., &amp; Miller, C. (2020). Tomorrow I’ll Be at the Table: Black Geographies and Urban Planning: A Review of the Literature. </a:t>
            </a:r>
            <a:r>
              <a:rPr lang="en" sz="1050" i="1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Journal of Planning Literature</a:t>
            </a:r>
            <a:r>
              <a:rPr lang="en" sz="1050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, </a:t>
            </a:r>
            <a:r>
              <a:rPr lang="en" sz="1050" i="1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35</a:t>
            </a:r>
            <a:r>
              <a:rPr lang="en" sz="1050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(4), 460–474.</a:t>
            </a:r>
            <a:r>
              <a:rPr lang="en" sz="1050" dirty="0">
                <a:solidFill>
                  <a:schemeClr val="dk1"/>
                </a:solidFill>
                <a:uFill>
                  <a:noFill/>
                </a:uFill>
                <a:latin typeface="Instrument Sans"/>
                <a:ea typeface="Instrument Sans"/>
                <a:cs typeface="Instrument Sans"/>
                <a:sym typeface="Instrument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" sz="1050" u="sng" dirty="0">
                <a:solidFill>
                  <a:schemeClr val="hlink"/>
                </a:solidFill>
                <a:latin typeface="Instrument Sans"/>
                <a:ea typeface="Instrument Sans"/>
                <a:cs typeface="Instrument Sans"/>
                <a:sym typeface="Instrument Sans"/>
                <a:hlinkClick r:id="rId4"/>
              </a:rPr>
              <a:t>https://doi.org/10.1177/0885412220928575</a:t>
            </a:r>
            <a:endParaRPr sz="1050" u="sng" dirty="0">
              <a:solidFill>
                <a:schemeClr val="hlink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279400" lvl="0" indent="-2794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Braun, V., Clarke, V., Hayfield, N., &amp; Terry, G. (2019). Thematic Analysis. In </a:t>
            </a:r>
            <a:r>
              <a:rPr lang="en" sz="1050" i="1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Handbook of Research Methods in Health Social Sciences</a:t>
            </a:r>
            <a:r>
              <a:rPr lang="en" sz="1050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(pp. 843–860). Springer, Singapore.</a:t>
            </a:r>
            <a:r>
              <a:rPr lang="en" sz="1050" dirty="0">
                <a:solidFill>
                  <a:schemeClr val="dk1"/>
                </a:solidFill>
                <a:uFill>
                  <a:noFill/>
                </a:uFill>
                <a:latin typeface="Instrument Sans"/>
                <a:ea typeface="Instrument Sans"/>
                <a:cs typeface="Instrument Sans"/>
                <a:sym typeface="Instrument Sa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" sz="1050" u="sng" dirty="0">
                <a:solidFill>
                  <a:schemeClr val="hlink"/>
                </a:solidFill>
                <a:latin typeface="Instrument Sans"/>
                <a:ea typeface="Instrument Sans"/>
                <a:cs typeface="Instrument Sans"/>
                <a:sym typeface="Instrument Sans"/>
                <a:hlinkClick r:id="rId5"/>
              </a:rPr>
              <a:t>https://doi.org/10.1007/978-981-10-5251-4_103</a:t>
            </a:r>
            <a:endParaRPr sz="1050" u="sng" dirty="0">
              <a:solidFill>
                <a:schemeClr val="hlink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279400" lvl="0" indent="-2794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Fike, K. J., &amp; Mattis, J. S. (2024). Gender, race, and space: A qualitative exploration of young Black women’s perceptions of urban neighborhoods. </a:t>
            </a:r>
            <a:r>
              <a:rPr lang="en" sz="1050" i="1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American Journal of Community Psychology</a:t>
            </a:r>
            <a:r>
              <a:rPr lang="en" sz="1050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, </a:t>
            </a:r>
            <a:r>
              <a:rPr lang="en" sz="1050" i="1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74</a:t>
            </a:r>
            <a:r>
              <a:rPr lang="en" sz="1050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(1–2), 152–168.</a:t>
            </a:r>
            <a:r>
              <a:rPr lang="en" sz="1050" dirty="0">
                <a:solidFill>
                  <a:schemeClr val="dk1"/>
                </a:solidFill>
                <a:uFill>
                  <a:noFill/>
                </a:uFill>
                <a:latin typeface="Instrument Sans"/>
                <a:ea typeface="Instrument Sans"/>
                <a:cs typeface="Instrument Sans"/>
                <a:sym typeface="Instrument San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" sz="1050" u="sng" dirty="0">
                <a:solidFill>
                  <a:schemeClr val="hlink"/>
                </a:solidFill>
                <a:latin typeface="Instrument Sans"/>
                <a:ea typeface="Instrument Sans"/>
                <a:cs typeface="Instrument Sans"/>
                <a:sym typeface="Instrument Sans"/>
                <a:hlinkClick r:id="rId6"/>
              </a:rPr>
              <a:t>https://doi.org/10.1002/ajcp.12752</a:t>
            </a:r>
            <a:endParaRPr sz="1050" u="sng" dirty="0">
              <a:solidFill>
                <a:schemeClr val="hlink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279400" lvl="0" indent="-2794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Kelly, M. (2023). Feminist geography and geospatial technologies. In </a:t>
            </a:r>
            <a:r>
              <a:rPr lang="en" sz="1050" i="1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Routledge Handbook of Geospatial Technologies and Society</a:t>
            </a:r>
            <a:r>
              <a:rPr lang="en" sz="1050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. Routledge.</a:t>
            </a:r>
            <a:endParaRPr sz="1050" dirty="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279400" lvl="0" indent="-2794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Kwan, M.-P. (2002). Feminist Visualization: Re-envisioning GIS as a Method in Feminist Geographic Research. </a:t>
            </a:r>
            <a:r>
              <a:rPr lang="en" sz="1050" i="1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Annals of the Association of American Geographers</a:t>
            </a:r>
            <a:r>
              <a:rPr lang="en" sz="1050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, </a:t>
            </a:r>
            <a:r>
              <a:rPr lang="en" sz="1050" i="1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92</a:t>
            </a:r>
            <a:r>
              <a:rPr lang="en" sz="1050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(4), 645–661.</a:t>
            </a:r>
            <a:r>
              <a:rPr lang="en" sz="1050" dirty="0">
                <a:solidFill>
                  <a:schemeClr val="dk1"/>
                </a:solidFill>
                <a:uFill>
                  <a:noFill/>
                </a:uFill>
                <a:latin typeface="Instrument Sans"/>
                <a:ea typeface="Instrument Sans"/>
                <a:cs typeface="Instrument Sans"/>
                <a:sym typeface="Instrument Sans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" sz="1050" u="sng" dirty="0">
                <a:solidFill>
                  <a:schemeClr val="hlink"/>
                </a:solidFill>
                <a:latin typeface="Instrument Sans"/>
                <a:ea typeface="Instrument Sans"/>
                <a:cs typeface="Instrument Sans"/>
                <a:sym typeface="Instrument Sans"/>
                <a:hlinkClick r:id="rId7"/>
              </a:rPr>
              <a:t>https://doi.org/10.1111/1467-8306.00309</a:t>
            </a:r>
            <a:endParaRPr sz="1050" u="sng" dirty="0">
              <a:solidFill>
                <a:schemeClr val="hlink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279400" lvl="0" indent="-2794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Kwan, M.-P. (2008). From oral histories to visual narratives: Re-presenting the post-September 11 experiences of the Muslim women in the USA. </a:t>
            </a:r>
            <a:r>
              <a:rPr lang="en" sz="1050" i="1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Social &amp; Cultural Geography</a:t>
            </a:r>
            <a:r>
              <a:rPr lang="en" sz="1050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.</a:t>
            </a:r>
            <a:r>
              <a:rPr lang="en" sz="1050" dirty="0">
                <a:solidFill>
                  <a:schemeClr val="dk1"/>
                </a:solidFill>
                <a:uFill>
                  <a:noFill/>
                </a:uFill>
                <a:latin typeface="Instrument Sans"/>
                <a:ea typeface="Instrument Sans"/>
                <a:cs typeface="Instrument Sans"/>
                <a:sym typeface="Instrument Sans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" sz="1050" u="sng" dirty="0">
                <a:solidFill>
                  <a:schemeClr val="hlink"/>
                </a:solidFill>
                <a:latin typeface="Instrument Sans"/>
                <a:ea typeface="Instrument Sans"/>
                <a:cs typeface="Instrument Sans"/>
                <a:sym typeface="Instrument Sans"/>
                <a:hlinkClick r:id="rId8"/>
              </a:rPr>
              <a:t>https://doi.org/10.1080/14649360802292462</a:t>
            </a:r>
            <a:endParaRPr sz="1050" u="sng" dirty="0">
              <a:solidFill>
                <a:schemeClr val="hlink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279400" lvl="0" indent="-2794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 err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McKITTRICK</a:t>
            </a:r>
            <a:r>
              <a:rPr lang="en" sz="1050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, K. (2006). </a:t>
            </a:r>
            <a:r>
              <a:rPr lang="en" sz="1050" i="1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Demonic Grounds: Black Women and the Cartographies of Struggle</a:t>
            </a:r>
            <a:r>
              <a:rPr lang="en" sz="1050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(NED-New edition). University of Minnesota Press.</a:t>
            </a:r>
            <a:r>
              <a:rPr lang="en" sz="1050" dirty="0">
                <a:solidFill>
                  <a:schemeClr val="dk1"/>
                </a:solidFill>
                <a:uFill>
                  <a:noFill/>
                </a:uFill>
                <a:latin typeface="Instrument Sans"/>
                <a:ea typeface="Instrument Sans"/>
                <a:cs typeface="Instrument Sans"/>
                <a:sym typeface="Instrument Sans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" sz="1050" u="sng" dirty="0">
                <a:solidFill>
                  <a:schemeClr val="hlink"/>
                </a:solidFill>
                <a:latin typeface="Instrument Sans"/>
                <a:ea typeface="Instrument Sans"/>
                <a:cs typeface="Instrument Sans"/>
                <a:sym typeface="Instrument Sans"/>
                <a:hlinkClick r:id="rId9"/>
              </a:rPr>
              <a:t>https://www.jstor.org/stable/10.5749/j.ctttv711</a:t>
            </a:r>
            <a:endParaRPr sz="1050" u="sng" dirty="0">
              <a:solidFill>
                <a:schemeClr val="hlink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279400" lvl="0" indent="-2794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McLafferty, S. L. (2002). Mapping Women’s Worlds: Knowledge, power and the bounds of GIS. </a:t>
            </a:r>
            <a:r>
              <a:rPr lang="en" sz="1050" i="1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Gender, Place &amp; Culture</a:t>
            </a:r>
            <a:r>
              <a:rPr lang="en" sz="1050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, </a:t>
            </a:r>
            <a:r>
              <a:rPr lang="en" sz="1050" i="1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9</a:t>
            </a:r>
            <a:r>
              <a:rPr lang="en" sz="1050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(3), 263–269.</a:t>
            </a:r>
            <a:r>
              <a:rPr lang="en" sz="1050" dirty="0">
                <a:solidFill>
                  <a:schemeClr val="dk1"/>
                </a:solidFill>
                <a:uFill>
                  <a:noFill/>
                </a:uFill>
                <a:latin typeface="Instrument Sans"/>
                <a:ea typeface="Instrument Sans"/>
                <a:cs typeface="Instrument Sans"/>
                <a:sym typeface="Instrument Sans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" sz="1050" u="sng" dirty="0">
                <a:solidFill>
                  <a:schemeClr val="hlink"/>
                </a:solidFill>
                <a:latin typeface="Instrument Sans"/>
                <a:ea typeface="Instrument Sans"/>
                <a:cs typeface="Instrument Sans"/>
                <a:sym typeface="Instrument Sans"/>
                <a:hlinkClick r:id="rId10"/>
              </a:rPr>
              <a:t>https://doi.org/10.1080/0966369022000003879</a:t>
            </a:r>
            <a:endParaRPr sz="1050" u="sng" dirty="0">
              <a:solidFill>
                <a:schemeClr val="hlink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279400" lvl="0" indent="-2794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Naeem, M., </a:t>
            </a:r>
            <a:r>
              <a:rPr lang="en" sz="1050" dirty="0" err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Ozuem</a:t>
            </a:r>
            <a:r>
              <a:rPr lang="en" sz="1050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, W., Howell, K., &amp; Ranfagni, S. (2023). A Step-by-Step Process of Thematic Analysis to Develop a Conceptual Model in Qualitative Research. </a:t>
            </a:r>
            <a:r>
              <a:rPr lang="en" sz="1050" i="1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International Journal of Qualitative Methods</a:t>
            </a:r>
            <a:r>
              <a:rPr lang="en" sz="1050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, </a:t>
            </a:r>
            <a:r>
              <a:rPr lang="en" sz="1050" i="1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22</a:t>
            </a:r>
            <a:r>
              <a:rPr lang="en" sz="1050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, 16094069231205789.</a:t>
            </a:r>
            <a:r>
              <a:rPr lang="en" sz="1050" dirty="0">
                <a:solidFill>
                  <a:schemeClr val="dk1"/>
                </a:solidFill>
                <a:uFill>
                  <a:noFill/>
                </a:uFill>
                <a:latin typeface="Instrument Sans"/>
                <a:ea typeface="Instrument Sans"/>
                <a:cs typeface="Instrument Sans"/>
                <a:sym typeface="Instrument Sans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" sz="1050" u="sng" dirty="0">
                <a:solidFill>
                  <a:schemeClr val="hlink"/>
                </a:solidFill>
                <a:latin typeface="Instrument Sans"/>
                <a:ea typeface="Instrument Sans"/>
                <a:cs typeface="Instrument Sans"/>
                <a:sym typeface="Instrument Sans"/>
                <a:hlinkClick r:id="rId11"/>
              </a:rPr>
              <a:t>https://doi.org/10.1177/16094069231205789</a:t>
            </a:r>
            <a:endParaRPr sz="1050" u="sng" dirty="0">
              <a:solidFill>
                <a:schemeClr val="hlink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279400" lvl="0" indent="-2794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Noxolo, P. (2024). Geographies of race and ethnicity II: Black Feminist Geographies. </a:t>
            </a:r>
            <a:r>
              <a:rPr lang="en" sz="1050" i="1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Progress in Human Geography</a:t>
            </a:r>
            <a:r>
              <a:rPr lang="en" sz="1050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, </a:t>
            </a:r>
            <a:r>
              <a:rPr lang="en" sz="1050" i="1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48</a:t>
            </a:r>
            <a:r>
              <a:rPr lang="en" sz="1050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(1), 85–93.</a:t>
            </a:r>
            <a:r>
              <a:rPr lang="en" sz="1050" dirty="0">
                <a:solidFill>
                  <a:schemeClr val="dk1"/>
                </a:solidFill>
                <a:uFill>
                  <a:noFill/>
                </a:uFill>
                <a:latin typeface="Instrument Sans"/>
                <a:ea typeface="Instrument Sans"/>
                <a:cs typeface="Instrument Sans"/>
                <a:sym typeface="Instrument Sans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" sz="1050" u="sng" dirty="0">
                <a:solidFill>
                  <a:schemeClr val="hlink"/>
                </a:solidFill>
                <a:latin typeface="Instrument Sans"/>
                <a:ea typeface="Instrument Sans"/>
                <a:cs typeface="Instrument Sans"/>
                <a:sym typeface="Instrument Sans"/>
                <a:hlinkClick r:id="rId12"/>
              </a:rPr>
              <a:t>https://doi.org/10.1177/03091325231194656</a:t>
            </a:r>
            <a:endParaRPr sz="1050" u="sng" dirty="0">
              <a:solidFill>
                <a:schemeClr val="hlink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279400" lvl="0" indent="-2794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Sadokierski, Z. (2020). Developing critical documentation practices for design researchers. </a:t>
            </a:r>
            <a:r>
              <a:rPr lang="en" sz="1050" i="1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Design Studies</a:t>
            </a:r>
            <a:r>
              <a:rPr lang="en" sz="1050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, </a:t>
            </a:r>
            <a:r>
              <a:rPr lang="en" sz="1050" i="1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69</a:t>
            </a:r>
            <a:r>
              <a:rPr lang="en" sz="1050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, 100940.</a:t>
            </a:r>
            <a:r>
              <a:rPr lang="en" sz="1050" dirty="0">
                <a:solidFill>
                  <a:schemeClr val="dk1"/>
                </a:solidFill>
                <a:uFill>
                  <a:noFill/>
                </a:uFill>
                <a:latin typeface="Instrument Sans"/>
                <a:ea typeface="Instrument Sans"/>
                <a:cs typeface="Instrument Sans"/>
                <a:sym typeface="Instrument Sans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" sz="1050" u="sng" dirty="0">
                <a:solidFill>
                  <a:schemeClr val="hlink"/>
                </a:solidFill>
                <a:latin typeface="Instrument Sans"/>
                <a:ea typeface="Instrument Sans"/>
                <a:cs typeface="Instrument Sans"/>
                <a:sym typeface="Instrument Sans"/>
                <a:hlinkClick r:id="rId13"/>
              </a:rPr>
              <a:t>https://doi.org/10.1016/j.destud.2020.03.002</a:t>
            </a:r>
            <a:endParaRPr sz="1050" u="sng" dirty="0">
              <a:solidFill>
                <a:schemeClr val="hlink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00" name="Google Shape;200;p29"/>
          <p:cNvSpPr txBox="1">
            <a:spLocks noGrp="1"/>
          </p:cNvSpPr>
          <p:nvPr>
            <p:ph type="title"/>
          </p:nvPr>
        </p:nvSpPr>
        <p:spPr>
          <a:xfrm>
            <a:off x="914400" y="1544038"/>
            <a:ext cx="1881000" cy="51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Literature</a:t>
            </a:r>
            <a:endParaRPr sz="2600"/>
          </a:p>
        </p:txBody>
      </p:sp>
      <p:sp>
        <p:nvSpPr>
          <p:cNvPr id="201" name="Google Shape;201;p29"/>
          <p:cNvSpPr txBox="1">
            <a:spLocks noGrp="1"/>
          </p:cNvSpPr>
          <p:nvPr>
            <p:ph type="title"/>
          </p:nvPr>
        </p:nvSpPr>
        <p:spPr>
          <a:xfrm>
            <a:off x="10936375" y="1544050"/>
            <a:ext cx="2377800" cy="51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Oral Histories</a:t>
            </a:r>
            <a:endParaRPr sz="2600"/>
          </a:p>
        </p:txBody>
      </p:sp>
      <p:sp>
        <p:nvSpPr>
          <p:cNvPr id="202" name="Google Shape;202;p29"/>
          <p:cNvSpPr txBox="1"/>
          <p:nvPr/>
        </p:nvSpPr>
        <p:spPr>
          <a:xfrm>
            <a:off x="10936375" y="2198050"/>
            <a:ext cx="6437100" cy="66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Thorne, E. (2022). Interview by </a:t>
            </a:r>
            <a:r>
              <a:rPr lang="en" sz="2000" dirty="0" err="1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Mcree</a:t>
            </a:r>
            <a:r>
              <a:rPr lang="en" sz="2000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, R. Lift Every Voice. Cambridge Black History Project. Cambridge Public Library, Cambridge, MA.</a:t>
            </a:r>
            <a:endParaRPr sz="2000" dirty="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Harding Scott, E.T. (2022). Interview by Harrington, C. Lift Every Voice. Cambridge Black History Project. Cambridge Public Library, Cambridge, MA.</a:t>
            </a:r>
            <a:endParaRPr sz="2000" dirty="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Pina, J. D. (2022). Interview by Harrington, C. Lift Every Voice. Cambridge Black History Project. Cambridge Public Library, Cambridge, MA.</a:t>
            </a:r>
            <a:endParaRPr sz="2000" dirty="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Johnson, M. (2022). Interview by Paris, P. Lift Every Voice. Cambridge Black History Project. Cambridge Public Library, Cambridge, MA.</a:t>
            </a:r>
            <a:endParaRPr sz="2000" dirty="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Lewis, P. (2023). Interview by Harrington, C. Lift Every Voice. Cambridge Black History Project. Cambridge Public Library, Cambridge, MA.</a:t>
            </a:r>
            <a:endParaRPr sz="2000" dirty="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Paris, P. (2023). Interview by Harrington, C. Lift Every Voice. Cambridge Black History Project. Cambridge Public Library, Cambridge, MA.</a:t>
            </a:r>
            <a:endParaRPr sz="2000" dirty="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Janey, P. W. (2022). Interview by Brunetta, L. Lift Every Voice. Cambridge Black History Project. Cambridge Public Library, Cambridge, MA.</a:t>
            </a:r>
            <a:endParaRPr sz="2000" dirty="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CL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1468</Words>
  <Application>Microsoft Macintosh PowerPoint</Application>
  <PresentationFormat>Custom</PresentationFormat>
  <Paragraphs>85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Instrument Sans SemiBold</vt:lpstr>
      <vt:lpstr>Instrument Sans Medium</vt:lpstr>
      <vt:lpstr>Instrument Sans</vt:lpstr>
      <vt:lpstr>SCL</vt:lpstr>
      <vt:lpstr>Black Women’s Cambridge</vt:lpstr>
      <vt:lpstr>Geographic Information Systems (GIS)</vt:lpstr>
      <vt:lpstr>Critical GIS</vt:lpstr>
      <vt:lpstr>PowerPoint Presentation</vt:lpstr>
      <vt:lpstr>Black Feminist Geographies</vt:lpstr>
      <vt:lpstr>Inserting Black feminist perspectives into critical GIS</vt:lpstr>
      <vt:lpstr>Design as a Mode of Inquiry</vt:lpstr>
      <vt:lpstr>Oral History Thematic Analysis</vt:lpstr>
      <vt:lpstr>Design Process: Data Feminism and Geospatial Technologies</vt:lpstr>
      <vt:lpstr>Findings from Final Visualization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Hammond, Ari Joyce</cp:lastModifiedBy>
  <cp:revision>1</cp:revision>
  <dcterms:modified xsi:type="dcterms:W3CDTF">2026-08-03T12:51:01Z</dcterms:modified>
</cp:coreProperties>
</file>